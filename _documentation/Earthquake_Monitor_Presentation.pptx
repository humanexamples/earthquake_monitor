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5" r:id="rId6"/>
    <p:sldId id="263" r:id="rId7"/>
    <p:sldId id="264" r:id="rId8"/>
    <p:sldId id="266" r:id="rId9"/>
    <p:sldId id="267" r:id="rId10"/>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5" d="100"/>
          <a:sy n="105" d="100"/>
        </p:scale>
        <p:origin x="798"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5/21/2026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5/21/2026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5/21/2026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5/21/2026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5/21/2026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‹Nr.›</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5/21/2026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‹Nr.›</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09728"/>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6748272"/>
            <a:ext cx="12188952" cy="109728"/>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ectangle 4"/>
          <p:cNvSpPr/>
          <p:nvPr/>
        </p:nvSpPr>
        <p:spPr>
          <a:xfrm>
            <a:off x="914400" y="1463040"/>
            <a:ext cx="10360152" cy="384048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914400" y="1463040"/>
            <a:ext cx="109728" cy="3840480"/>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1280160" y="1737360"/>
            <a:ext cx="9601200" cy="830997"/>
          </a:xfrm>
          <a:prstGeom prst="rect">
            <a:avLst/>
          </a:prstGeom>
          <a:noFill/>
        </p:spPr>
        <p:txBody>
          <a:bodyPr wrap="square">
            <a:spAutoFit/>
          </a:bodyPr>
          <a:lstStyle/>
          <a:p>
            <a:pPr algn="ctr"/>
            <a:r>
              <a:rPr sz="4800" b="1" dirty="0">
                <a:solidFill>
                  <a:srgbClr val="FFFFFF"/>
                </a:solidFill>
              </a:rPr>
              <a:t>Earthquake Monitor</a:t>
            </a:r>
          </a:p>
        </p:txBody>
      </p:sp>
      <p:sp>
        <p:nvSpPr>
          <p:cNvPr id="8" name="TextBox 7"/>
          <p:cNvSpPr txBox="1"/>
          <p:nvPr/>
        </p:nvSpPr>
        <p:spPr>
          <a:xfrm>
            <a:off x="1280160" y="2743200"/>
            <a:ext cx="9601200" cy="492443"/>
          </a:xfrm>
          <a:prstGeom prst="rect">
            <a:avLst/>
          </a:prstGeom>
          <a:noFill/>
        </p:spPr>
        <p:txBody>
          <a:bodyPr wrap="square">
            <a:spAutoFit/>
          </a:bodyPr>
          <a:lstStyle/>
          <a:p>
            <a:pPr algn="ctr"/>
            <a:r>
              <a:rPr sz="2600" b="0" dirty="0">
                <a:solidFill>
                  <a:srgbClr val="FF4B4B"/>
                </a:solidFill>
              </a:rPr>
              <a:t>Real-Time Seismic Data Pipeline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88952"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1430000" cy="731520"/>
          </a:xfrm>
          <a:prstGeom prst="rect">
            <a:avLst/>
          </a:prstGeom>
          <a:noFill/>
        </p:spPr>
        <p:txBody>
          <a:bodyPr wrap="square">
            <a:spAutoFit/>
          </a:bodyPr>
          <a:lstStyle/>
          <a:p>
            <a:pPr algn="l"/>
            <a:r>
              <a:rPr sz="3200" b="1">
                <a:solidFill>
                  <a:srgbClr val="FFFFFF"/>
                </a:solidFill>
              </a:rPr>
              <a:t>Project Purpose</a:t>
            </a:r>
          </a:p>
        </p:txBody>
      </p:sp>
      <p:sp>
        <p:nvSpPr>
          <p:cNvPr id="6" name="TextBox 5"/>
          <p:cNvSpPr txBox="1"/>
          <p:nvPr/>
        </p:nvSpPr>
        <p:spPr>
          <a:xfrm>
            <a:off x="365760" y="777240"/>
            <a:ext cx="11430000" cy="365760"/>
          </a:xfrm>
          <a:prstGeom prst="rect">
            <a:avLst/>
          </a:prstGeom>
          <a:noFill/>
        </p:spPr>
        <p:txBody>
          <a:bodyPr wrap="square">
            <a:spAutoFit/>
          </a:bodyPr>
          <a:lstStyle/>
          <a:p>
            <a:pPr algn="l"/>
            <a:r>
              <a:rPr sz="1600" b="0">
                <a:solidFill>
                  <a:srgbClr val="E0E0E0"/>
                </a:solidFill>
              </a:rPr>
              <a:t>Why was this system built?</a:t>
            </a:r>
          </a:p>
        </p:txBody>
      </p:sp>
      <p:sp>
        <p:nvSpPr>
          <p:cNvPr id="7" name="TextBox 6"/>
          <p:cNvSpPr txBox="1"/>
          <p:nvPr/>
        </p:nvSpPr>
        <p:spPr>
          <a:xfrm>
            <a:off x="457200" y="1463040"/>
            <a:ext cx="11247120" cy="1005840"/>
          </a:xfrm>
          <a:prstGeom prst="rect">
            <a:avLst/>
          </a:prstGeom>
          <a:noFill/>
        </p:spPr>
        <p:txBody>
          <a:bodyPr wrap="square">
            <a:spAutoFit/>
          </a:bodyPr>
          <a:lstStyle/>
          <a:p>
            <a:pPr algn="l"/>
            <a:r>
              <a:rPr sz="1700" b="0">
                <a:solidFill>
                  <a:srgbClr val="E0E0E0"/>
                </a:solidFill>
              </a:rPr>
              <a:t>Earthquakes happen continuously worldwide. The goal of this project is to capture every seismic event in real time, enrich it with contextual data, and make the results explorable through an interactive dashboard.</a:t>
            </a:r>
          </a:p>
        </p:txBody>
      </p:sp>
      <p:sp>
        <p:nvSpPr>
          <p:cNvPr id="8" name="Rectangle 7"/>
          <p:cNvSpPr/>
          <p:nvPr/>
        </p:nvSpPr>
        <p:spPr>
          <a:xfrm>
            <a:off x="365760" y="2651760"/>
            <a:ext cx="2651760" cy="3474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365760" y="2651760"/>
            <a:ext cx="265176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02920" y="2788920"/>
            <a:ext cx="2377440" cy="411480"/>
          </a:xfrm>
          <a:prstGeom prst="rect">
            <a:avLst/>
          </a:prstGeom>
          <a:noFill/>
        </p:spPr>
        <p:txBody>
          <a:bodyPr wrap="square">
            <a:spAutoFit/>
          </a:bodyPr>
          <a:lstStyle/>
          <a:p>
            <a:pPr algn="l"/>
            <a:r>
              <a:rPr sz="1800" b="1">
                <a:solidFill>
                  <a:srgbClr val="FF4B4B"/>
                </a:solidFill>
              </a:rPr>
              <a:t>Monitor</a:t>
            </a:r>
          </a:p>
        </p:txBody>
      </p:sp>
      <p:sp>
        <p:nvSpPr>
          <p:cNvPr id="11" name="TextBox 10"/>
          <p:cNvSpPr txBox="1"/>
          <p:nvPr/>
        </p:nvSpPr>
        <p:spPr>
          <a:xfrm>
            <a:off x="548640" y="3291840"/>
            <a:ext cx="2377440" cy="784830"/>
          </a:xfrm>
          <a:prstGeom prst="rect">
            <a:avLst/>
          </a:prstGeom>
          <a:noFill/>
        </p:spPr>
        <p:txBody>
          <a:bodyPr wrap="square">
            <a:spAutoFit/>
          </a:bodyPr>
          <a:lstStyle/>
          <a:p>
            <a:r>
              <a:rPr sz="1500" b="0" dirty="0">
                <a:solidFill>
                  <a:srgbClr val="E0E0E0"/>
                </a:solidFill>
              </a:rPr>
              <a:t>Receive live earthquake events</a:t>
            </a:r>
            <a:r>
              <a:rPr lang="de-CH" sz="1500" b="0" dirty="0">
                <a:solidFill>
                  <a:srgbClr val="E0E0E0"/>
                </a:solidFill>
              </a:rPr>
              <a:t> </a:t>
            </a:r>
            <a:r>
              <a:rPr lang="en-US" sz="1500" b="0" dirty="0">
                <a:solidFill>
                  <a:srgbClr val="E0E0E0"/>
                </a:solidFill>
              </a:rPr>
              <a:t>the moment they are detected</a:t>
            </a:r>
          </a:p>
        </p:txBody>
      </p:sp>
      <p:sp>
        <p:nvSpPr>
          <p:cNvPr id="14" name="Rectangle 13"/>
          <p:cNvSpPr/>
          <p:nvPr/>
        </p:nvSpPr>
        <p:spPr>
          <a:xfrm>
            <a:off x="3200400" y="2724912"/>
            <a:ext cx="2651760" cy="3474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00400" y="2651760"/>
            <a:ext cx="265176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337560" y="2788920"/>
            <a:ext cx="2377440" cy="646331"/>
          </a:xfrm>
          <a:prstGeom prst="rect">
            <a:avLst/>
          </a:prstGeom>
          <a:noFill/>
        </p:spPr>
        <p:txBody>
          <a:bodyPr wrap="square">
            <a:spAutoFit/>
          </a:bodyPr>
          <a:lstStyle/>
          <a:p>
            <a:pPr algn="l"/>
            <a:r>
              <a:rPr sz="1800" b="1" dirty="0">
                <a:solidFill>
                  <a:srgbClr val="FF4B4B"/>
                </a:solidFill>
              </a:rPr>
              <a:t>Enrich</a:t>
            </a:r>
            <a:r>
              <a:rPr lang="de-CH" sz="1800" b="1" dirty="0">
                <a:solidFill>
                  <a:srgbClr val="FF4B4B"/>
                </a:solidFill>
              </a:rPr>
              <a:t> </a:t>
            </a:r>
            <a:r>
              <a:rPr lang="de-CH" sz="1800" b="1" dirty="0" err="1">
                <a:solidFill>
                  <a:srgbClr val="FF4B4B"/>
                </a:solidFill>
              </a:rPr>
              <a:t>the</a:t>
            </a:r>
            <a:r>
              <a:rPr lang="de-CH" sz="1800" b="1" dirty="0">
                <a:solidFill>
                  <a:srgbClr val="FF4B4B"/>
                </a:solidFill>
              </a:rPr>
              <a:t> </a:t>
            </a:r>
            <a:r>
              <a:rPr lang="en-US" sz="1800" b="1" dirty="0">
                <a:solidFill>
                  <a:srgbClr val="FF4B4B"/>
                </a:solidFill>
              </a:rPr>
              <a:t>event</a:t>
            </a:r>
            <a:r>
              <a:rPr lang="de-CH" b="1" dirty="0">
                <a:solidFill>
                  <a:srgbClr val="FF4B4B"/>
                </a:solidFill>
              </a:rPr>
              <a:t> </a:t>
            </a:r>
            <a:r>
              <a:rPr lang="de-CH" b="1" dirty="0" err="1">
                <a:solidFill>
                  <a:srgbClr val="FF4B4B"/>
                </a:solidFill>
              </a:rPr>
              <a:t>with</a:t>
            </a:r>
            <a:r>
              <a:rPr lang="de-CH" b="1" dirty="0">
                <a:solidFill>
                  <a:srgbClr val="FF4B4B"/>
                </a:solidFill>
              </a:rPr>
              <a:t> </a:t>
            </a:r>
            <a:r>
              <a:rPr lang="de-CH" b="1" dirty="0" err="1">
                <a:solidFill>
                  <a:srgbClr val="FF4B4B"/>
                </a:solidFill>
              </a:rPr>
              <a:t>other</a:t>
            </a:r>
            <a:r>
              <a:rPr lang="de-CH" b="1" dirty="0">
                <a:solidFill>
                  <a:srgbClr val="FF4B4B"/>
                </a:solidFill>
              </a:rPr>
              <a:t> </a:t>
            </a:r>
            <a:r>
              <a:rPr lang="de-CH" b="1" dirty="0" err="1">
                <a:solidFill>
                  <a:srgbClr val="FF4B4B"/>
                </a:solidFill>
              </a:rPr>
              <a:t>information</a:t>
            </a:r>
            <a:endParaRPr sz="1800" b="1" dirty="0">
              <a:solidFill>
                <a:srgbClr val="FF4B4B"/>
              </a:solidFill>
            </a:endParaRPr>
          </a:p>
        </p:txBody>
      </p:sp>
      <p:sp>
        <p:nvSpPr>
          <p:cNvPr id="17" name="TextBox 16"/>
          <p:cNvSpPr txBox="1"/>
          <p:nvPr/>
        </p:nvSpPr>
        <p:spPr>
          <a:xfrm>
            <a:off x="3383280" y="3499259"/>
            <a:ext cx="2377440" cy="323165"/>
          </a:xfrm>
          <a:prstGeom prst="rect">
            <a:avLst/>
          </a:prstGeom>
          <a:noFill/>
        </p:spPr>
        <p:txBody>
          <a:bodyPr wrap="square">
            <a:spAutoFit/>
          </a:bodyPr>
          <a:lstStyle/>
          <a:p>
            <a:pPr algn="l"/>
            <a:r>
              <a:rPr lang="de-CH" sz="1500" dirty="0">
                <a:solidFill>
                  <a:srgbClr val="E0E0E0"/>
                </a:solidFill>
              </a:rPr>
              <a:t>- </a:t>
            </a:r>
            <a:r>
              <a:rPr sz="1500" b="0" dirty="0">
                <a:solidFill>
                  <a:srgbClr val="E0E0E0"/>
                </a:solidFill>
              </a:rPr>
              <a:t>population data</a:t>
            </a:r>
          </a:p>
        </p:txBody>
      </p:sp>
      <p:sp>
        <p:nvSpPr>
          <p:cNvPr id="18" name="TextBox 17"/>
          <p:cNvSpPr txBox="1"/>
          <p:nvPr/>
        </p:nvSpPr>
        <p:spPr>
          <a:xfrm>
            <a:off x="3383280" y="3973068"/>
            <a:ext cx="2377440" cy="323165"/>
          </a:xfrm>
          <a:prstGeom prst="rect">
            <a:avLst/>
          </a:prstGeom>
          <a:noFill/>
        </p:spPr>
        <p:txBody>
          <a:bodyPr wrap="square">
            <a:spAutoFit/>
          </a:bodyPr>
          <a:lstStyle/>
          <a:p>
            <a:pPr algn="l"/>
            <a:r>
              <a:rPr lang="de-CH" sz="1500" b="0" dirty="0">
                <a:solidFill>
                  <a:srgbClr val="E0E0E0"/>
                </a:solidFill>
              </a:rPr>
              <a:t>- </a:t>
            </a:r>
            <a:r>
              <a:rPr sz="1500" b="0" dirty="0">
                <a:solidFill>
                  <a:srgbClr val="E0E0E0"/>
                </a:solidFill>
              </a:rPr>
              <a:t>historical seismic activity</a:t>
            </a:r>
          </a:p>
        </p:txBody>
      </p:sp>
      <p:sp>
        <p:nvSpPr>
          <p:cNvPr id="19" name="TextBox 18"/>
          <p:cNvSpPr txBox="1"/>
          <p:nvPr/>
        </p:nvSpPr>
        <p:spPr>
          <a:xfrm>
            <a:off x="3383280" y="4389120"/>
            <a:ext cx="2377440" cy="323165"/>
          </a:xfrm>
          <a:prstGeom prst="rect">
            <a:avLst/>
          </a:prstGeom>
          <a:noFill/>
        </p:spPr>
        <p:txBody>
          <a:bodyPr wrap="square">
            <a:spAutoFit/>
          </a:bodyPr>
          <a:lstStyle/>
          <a:p>
            <a:pPr algn="l"/>
            <a:r>
              <a:rPr lang="de-CH" sz="1500" dirty="0">
                <a:solidFill>
                  <a:srgbClr val="E0E0E0"/>
                </a:solidFill>
              </a:rPr>
              <a:t>- </a:t>
            </a:r>
            <a:r>
              <a:rPr sz="1500" b="0" dirty="0">
                <a:solidFill>
                  <a:srgbClr val="E0E0E0"/>
                </a:solidFill>
              </a:rPr>
              <a:t>nearby infrastructure</a:t>
            </a:r>
          </a:p>
        </p:txBody>
      </p:sp>
      <p:sp>
        <p:nvSpPr>
          <p:cNvPr id="20" name="Rectangle 19"/>
          <p:cNvSpPr/>
          <p:nvPr/>
        </p:nvSpPr>
        <p:spPr>
          <a:xfrm>
            <a:off x="6035040" y="2651760"/>
            <a:ext cx="2651760" cy="3474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6035040" y="2651760"/>
            <a:ext cx="265176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172200" y="2788920"/>
            <a:ext cx="2377440" cy="411480"/>
          </a:xfrm>
          <a:prstGeom prst="rect">
            <a:avLst/>
          </a:prstGeom>
          <a:noFill/>
        </p:spPr>
        <p:txBody>
          <a:bodyPr wrap="square">
            <a:spAutoFit/>
          </a:bodyPr>
          <a:lstStyle/>
          <a:p>
            <a:pPr algn="l"/>
            <a:r>
              <a:rPr sz="1800" b="1">
                <a:solidFill>
                  <a:srgbClr val="FF4B4B"/>
                </a:solidFill>
              </a:rPr>
              <a:t>Analyse</a:t>
            </a:r>
          </a:p>
        </p:txBody>
      </p:sp>
      <p:sp>
        <p:nvSpPr>
          <p:cNvPr id="23" name="TextBox 22"/>
          <p:cNvSpPr txBox="1"/>
          <p:nvPr/>
        </p:nvSpPr>
        <p:spPr>
          <a:xfrm>
            <a:off x="6217920" y="3291840"/>
            <a:ext cx="2377440" cy="553998"/>
          </a:xfrm>
          <a:prstGeom prst="rect">
            <a:avLst/>
          </a:prstGeom>
          <a:noFill/>
        </p:spPr>
        <p:txBody>
          <a:bodyPr wrap="square">
            <a:spAutoFit/>
          </a:bodyPr>
          <a:lstStyle/>
          <a:p>
            <a:pPr algn="l"/>
            <a:r>
              <a:rPr sz="1500" b="0" dirty="0">
                <a:solidFill>
                  <a:srgbClr val="E0E0E0"/>
                </a:solidFill>
              </a:rPr>
              <a:t>Compute </a:t>
            </a:r>
            <a:r>
              <a:rPr lang="de-CH" sz="1500" b="0" dirty="0" err="1">
                <a:solidFill>
                  <a:srgbClr val="E0E0E0"/>
                </a:solidFill>
              </a:rPr>
              <a:t>related</a:t>
            </a:r>
            <a:r>
              <a:rPr lang="de-CH" sz="1500" b="0" dirty="0">
                <a:solidFill>
                  <a:srgbClr val="E0E0E0"/>
                </a:solidFill>
              </a:rPr>
              <a:t> </a:t>
            </a:r>
            <a:r>
              <a:rPr lang="de-CH" sz="1500" b="0" dirty="0" err="1">
                <a:solidFill>
                  <a:srgbClr val="E0E0E0"/>
                </a:solidFill>
              </a:rPr>
              <a:t>parameters</a:t>
            </a:r>
            <a:endParaRPr sz="1500" b="0" dirty="0">
              <a:solidFill>
                <a:srgbClr val="E0E0E0"/>
              </a:solidFill>
            </a:endParaRPr>
          </a:p>
        </p:txBody>
      </p:sp>
      <p:sp>
        <p:nvSpPr>
          <p:cNvPr id="24" name="TextBox 23"/>
          <p:cNvSpPr txBox="1"/>
          <p:nvPr/>
        </p:nvSpPr>
        <p:spPr>
          <a:xfrm>
            <a:off x="6217920" y="3977640"/>
            <a:ext cx="2377440" cy="457200"/>
          </a:xfrm>
          <a:prstGeom prst="rect">
            <a:avLst/>
          </a:prstGeom>
          <a:noFill/>
        </p:spPr>
        <p:txBody>
          <a:bodyPr wrap="square">
            <a:spAutoFit/>
          </a:bodyPr>
          <a:lstStyle/>
          <a:p>
            <a:pPr algn="l"/>
            <a:r>
              <a:rPr sz="1500" b="0" dirty="0">
                <a:solidFill>
                  <a:srgbClr val="E0E0E0"/>
                </a:solidFill>
              </a:rPr>
              <a:t>per event and per country</a:t>
            </a:r>
          </a:p>
        </p:txBody>
      </p:sp>
      <p:sp>
        <p:nvSpPr>
          <p:cNvPr id="25" name="TextBox 24"/>
          <p:cNvSpPr txBox="1"/>
          <p:nvPr/>
        </p:nvSpPr>
        <p:spPr>
          <a:xfrm>
            <a:off x="6217920" y="4480560"/>
            <a:ext cx="2377440" cy="457200"/>
          </a:xfrm>
          <a:prstGeom prst="rect">
            <a:avLst/>
          </a:prstGeom>
          <a:noFill/>
        </p:spPr>
        <p:txBody>
          <a:bodyPr wrap="square">
            <a:spAutoFit/>
          </a:bodyPr>
          <a:lstStyle/>
          <a:p>
            <a:pPr algn="l"/>
            <a:r>
              <a:rPr sz="1500" b="0">
                <a:solidFill>
                  <a:srgbClr val="E0E0E0"/>
                </a:solidFill>
              </a:rPr>
              <a:t>in a structured warehouse</a:t>
            </a:r>
          </a:p>
        </p:txBody>
      </p:sp>
      <p:sp>
        <p:nvSpPr>
          <p:cNvPr id="26" name="Rectangle 25"/>
          <p:cNvSpPr/>
          <p:nvPr/>
        </p:nvSpPr>
        <p:spPr>
          <a:xfrm>
            <a:off x="8869680" y="2651760"/>
            <a:ext cx="2651760" cy="3474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ectangle 26"/>
          <p:cNvSpPr/>
          <p:nvPr/>
        </p:nvSpPr>
        <p:spPr>
          <a:xfrm>
            <a:off x="8869680" y="2651760"/>
            <a:ext cx="265176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9006840" y="2788920"/>
            <a:ext cx="2377440" cy="411480"/>
          </a:xfrm>
          <a:prstGeom prst="rect">
            <a:avLst/>
          </a:prstGeom>
          <a:noFill/>
        </p:spPr>
        <p:txBody>
          <a:bodyPr wrap="square">
            <a:spAutoFit/>
          </a:bodyPr>
          <a:lstStyle/>
          <a:p>
            <a:pPr algn="l"/>
            <a:r>
              <a:rPr sz="1800" b="1">
                <a:solidFill>
                  <a:srgbClr val="FF4B4B"/>
                </a:solidFill>
              </a:rPr>
              <a:t>Visualise</a:t>
            </a:r>
          </a:p>
        </p:txBody>
      </p:sp>
      <p:sp>
        <p:nvSpPr>
          <p:cNvPr id="29" name="TextBox 28"/>
          <p:cNvSpPr txBox="1"/>
          <p:nvPr/>
        </p:nvSpPr>
        <p:spPr>
          <a:xfrm>
            <a:off x="9052560" y="3291840"/>
            <a:ext cx="2377440" cy="457200"/>
          </a:xfrm>
          <a:prstGeom prst="rect">
            <a:avLst/>
          </a:prstGeom>
          <a:noFill/>
        </p:spPr>
        <p:txBody>
          <a:bodyPr wrap="square">
            <a:spAutoFit/>
          </a:bodyPr>
          <a:lstStyle/>
          <a:p>
            <a:pPr algn="l"/>
            <a:r>
              <a:rPr sz="1500" b="0">
                <a:solidFill>
                  <a:srgbClr val="E0E0E0"/>
                </a:solidFill>
              </a:rPr>
              <a:t>Present all data in an</a:t>
            </a:r>
          </a:p>
        </p:txBody>
      </p:sp>
      <p:sp>
        <p:nvSpPr>
          <p:cNvPr id="30" name="TextBox 29"/>
          <p:cNvSpPr txBox="1"/>
          <p:nvPr/>
        </p:nvSpPr>
        <p:spPr>
          <a:xfrm>
            <a:off x="9052560" y="3794760"/>
            <a:ext cx="2377440" cy="457200"/>
          </a:xfrm>
          <a:prstGeom prst="rect">
            <a:avLst/>
          </a:prstGeom>
          <a:noFill/>
        </p:spPr>
        <p:txBody>
          <a:bodyPr wrap="square">
            <a:spAutoFit/>
          </a:bodyPr>
          <a:lstStyle/>
          <a:p>
            <a:pPr algn="l"/>
            <a:r>
              <a:rPr sz="1500" b="0">
                <a:solidFill>
                  <a:srgbClr val="E0E0E0"/>
                </a:solidFill>
              </a:rPr>
              <a:t>interactive web dashboard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88952"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1430000" cy="731520"/>
          </a:xfrm>
          <a:prstGeom prst="rect">
            <a:avLst/>
          </a:prstGeom>
          <a:noFill/>
        </p:spPr>
        <p:txBody>
          <a:bodyPr wrap="square">
            <a:spAutoFit/>
          </a:bodyPr>
          <a:lstStyle/>
          <a:p>
            <a:pPr algn="l"/>
            <a:r>
              <a:rPr sz="3200" b="1">
                <a:solidFill>
                  <a:srgbClr val="FFFFFF"/>
                </a:solidFill>
              </a:rPr>
              <a:t>Data Sources</a:t>
            </a:r>
          </a:p>
        </p:txBody>
      </p:sp>
      <p:sp>
        <p:nvSpPr>
          <p:cNvPr id="6" name="TextBox 5"/>
          <p:cNvSpPr txBox="1"/>
          <p:nvPr/>
        </p:nvSpPr>
        <p:spPr>
          <a:xfrm>
            <a:off x="365760" y="777240"/>
            <a:ext cx="11430000" cy="365760"/>
          </a:xfrm>
          <a:prstGeom prst="rect">
            <a:avLst/>
          </a:prstGeom>
          <a:noFill/>
        </p:spPr>
        <p:txBody>
          <a:bodyPr wrap="square">
            <a:spAutoFit/>
          </a:bodyPr>
          <a:lstStyle/>
          <a:p>
            <a:pPr algn="l"/>
            <a:r>
              <a:rPr sz="1600" b="0">
                <a:solidFill>
                  <a:srgbClr val="E0E0E0"/>
                </a:solidFill>
              </a:rPr>
              <a:t>External APIs called per earthquake event</a:t>
            </a:r>
          </a:p>
        </p:txBody>
      </p:sp>
      <p:sp>
        <p:nvSpPr>
          <p:cNvPr id="7" name="Rectangle 6"/>
          <p:cNvSpPr/>
          <p:nvPr/>
        </p:nvSpPr>
        <p:spPr>
          <a:xfrm>
            <a:off x="274320" y="1417320"/>
            <a:ext cx="3657600" cy="2286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417320"/>
            <a:ext cx="3657600" cy="64008"/>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527048"/>
            <a:ext cx="3383280" cy="347472"/>
          </a:xfrm>
          <a:prstGeom prst="rect">
            <a:avLst/>
          </a:prstGeom>
          <a:noFill/>
        </p:spPr>
        <p:txBody>
          <a:bodyPr wrap="square">
            <a:spAutoFit/>
          </a:bodyPr>
          <a:lstStyle/>
          <a:p>
            <a:pPr algn="l"/>
            <a:r>
              <a:rPr sz="1500" b="1">
                <a:solidFill>
                  <a:srgbClr val="FF4B4B"/>
                </a:solidFill>
              </a:rPr>
              <a:t>EMSC WebSocket</a:t>
            </a:r>
          </a:p>
        </p:txBody>
      </p:sp>
      <p:sp>
        <p:nvSpPr>
          <p:cNvPr id="10" name="TextBox 9"/>
          <p:cNvSpPr txBox="1"/>
          <p:nvPr/>
        </p:nvSpPr>
        <p:spPr>
          <a:xfrm>
            <a:off x="411480" y="1856232"/>
            <a:ext cx="3383280" cy="274320"/>
          </a:xfrm>
          <a:prstGeom prst="rect">
            <a:avLst/>
          </a:prstGeom>
          <a:noFill/>
        </p:spPr>
        <p:txBody>
          <a:bodyPr wrap="square">
            <a:spAutoFit/>
          </a:bodyPr>
          <a:lstStyle/>
          <a:p>
            <a:pPr algn="l"/>
            <a:r>
              <a:rPr sz="1100" b="0">
                <a:solidFill>
                  <a:srgbClr val="AAAAAA"/>
                </a:solidFill>
              </a:rPr>
              <a:t>European-Mediterranean Seismic Centre</a:t>
            </a:r>
          </a:p>
        </p:txBody>
      </p:sp>
      <p:sp>
        <p:nvSpPr>
          <p:cNvPr id="11" name="TextBox 10"/>
          <p:cNvSpPr txBox="1"/>
          <p:nvPr/>
        </p:nvSpPr>
        <p:spPr>
          <a:xfrm>
            <a:off x="411480" y="2167128"/>
            <a:ext cx="3383280" cy="402336"/>
          </a:xfrm>
          <a:prstGeom prst="rect">
            <a:avLst/>
          </a:prstGeom>
          <a:noFill/>
        </p:spPr>
        <p:txBody>
          <a:bodyPr wrap="square">
            <a:spAutoFit/>
          </a:bodyPr>
          <a:lstStyle/>
          <a:p>
            <a:pPr algn="l"/>
            <a:r>
              <a:rPr sz="1300" b="0">
                <a:solidFill>
                  <a:srgbClr val="E0E0E0"/>
                </a:solidFill>
              </a:rPr>
              <a:t>• Live seismic event stream (WebSocket)</a:t>
            </a:r>
          </a:p>
        </p:txBody>
      </p:sp>
      <p:sp>
        <p:nvSpPr>
          <p:cNvPr id="12" name="TextBox 11"/>
          <p:cNvSpPr txBox="1"/>
          <p:nvPr/>
        </p:nvSpPr>
        <p:spPr>
          <a:xfrm>
            <a:off x="411480" y="2596896"/>
            <a:ext cx="3383280" cy="292388"/>
          </a:xfrm>
          <a:prstGeom prst="rect">
            <a:avLst/>
          </a:prstGeom>
          <a:noFill/>
        </p:spPr>
        <p:txBody>
          <a:bodyPr wrap="square">
            <a:spAutoFit/>
          </a:bodyPr>
          <a:lstStyle/>
          <a:p>
            <a:pPr algn="l"/>
            <a:r>
              <a:rPr sz="1300" b="0" dirty="0">
                <a:solidFill>
                  <a:srgbClr val="E0E0E0"/>
                </a:solidFill>
              </a:rPr>
              <a:t>• Magnitude, coordinates, timestamp</a:t>
            </a:r>
          </a:p>
        </p:txBody>
      </p:sp>
      <p:sp>
        <p:nvSpPr>
          <p:cNvPr id="13" name="TextBox 12"/>
          <p:cNvSpPr txBox="1"/>
          <p:nvPr/>
        </p:nvSpPr>
        <p:spPr>
          <a:xfrm>
            <a:off x="411480" y="3026663"/>
            <a:ext cx="3383280" cy="402336"/>
          </a:xfrm>
          <a:prstGeom prst="rect">
            <a:avLst/>
          </a:prstGeom>
          <a:noFill/>
        </p:spPr>
        <p:txBody>
          <a:bodyPr wrap="square">
            <a:spAutoFit/>
          </a:bodyPr>
          <a:lstStyle/>
          <a:p>
            <a:pPr algn="l"/>
            <a:r>
              <a:rPr sz="1300" b="0">
                <a:solidFill>
                  <a:srgbClr val="E0E0E0"/>
                </a:solidFill>
              </a:rPr>
              <a:t>• Persistent connection — events pushed in real time</a:t>
            </a:r>
          </a:p>
        </p:txBody>
      </p:sp>
      <p:sp>
        <p:nvSpPr>
          <p:cNvPr id="14" name="Rectangle 13"/>
          <p:cNvSpPr/>
          <p:nvPr/>
        </p:nvSpPr>
        <p:spPr>
          <a:xfrm>
            <a:off x="4206240" y="1417320"/>
            <a:ext cx="3657600" cy="2286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206240" y="1417320"/>
            <a:ext cx="3657600" cy="64008"/>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343400" y="1527048"/>
            <a:ext cx="3383280" cy="347472"/>
          </a:xfrm>
          <a:prstGeom prst="rect">
            <a:avLst/>
          </a:prstGeom>
          <a:noFill/>
        </p:spPr>
        <p:txBody>
          <a:bodyPr wrap="square">
            <a:spAutoFit/>
          </a:bodyPr>
          <a:lstStyle/>
          <a:p>
            <a:pPr algn="l"/>
            <a:r>
              <a:rPr sz="1500" b="1">
                <a:solidFill>
                  <a:srgbClr val="4CAF50"/>
                </a:solidFill>
              </a:rPr>
              <a:t>USGS Earthquake API</a:t>
            </a:r>
          </a:p>
        </p:txBody>
      </p:sp>
      <p:sp>
        <p:nvSpPr>
          <p:cNvPr id="17" name="TextBox 16"/>
          <p:cNvSpPr txBox="1"/>
          <p:nvPr/>
        </p:nvSpPr>
        <p:spPr>
          <a:xfrm>
            <a:off x="4343400" y="1856232"/>
            <a:ext cx="3383280" cy="274320"/>
          </a:xfrm>
          <a:prstGeom prst="rect">
            <a:avLst/>
          </a:prstGeom>
          <a:noFill/>
        </p:spPr>
        <p:txBody>
          <a:bodyPr wrap="square">
            <a:spAutoFit/>
          </a:bodyPr>
          <a:lstStyle/>
          <a:p>
            <a:pPr algn="l"/>
            <a:r>
              <a:rPr sz="1100" b="0">
                <a:solidFill>
                  <a:srgbClr val="AAAAAA"/>
                </a:solidFill>
              </a:rPr>
              <a:t>US Geological Survey</a:t>
            </a:r>
          </a:p>
        </p:txBody>
      </p:sp>
      <p:sp>
        <p:nvSpPr>
          <p:cNvPr id="18" name="TextBox 17"/>
          <p:cNvSpPr txBox="1"/>
          <p:nvPr/>
        </p:nvSpPr>
        <p:spPr>
          <a:xfrm>
            <a:off x="4343400" y="2167128"/>
            <a:ext cx="3383280" cy="402336"/>
          </a:xfrm>
          <a:prstGeom prst="rect">
            <a:avLst/>
          </a:prstGeom>
          <a:noFill/>
        </p:spPr>
        <p:txBody>
          <a:bodyPr wrap="square">
            <a:spAutoFit/>
          </a:bodyPr>
          <a:lstStyle/>
          <a:p>
            <a:pPr algn="l"/>
            <a:r>
              <a:rPr sz="1300" b="0">
                <a:solidFill>
                  <a:srgbClr val="E0E0E0"/>
                </a:solidFill>
              </a:rPr>
              <a:t>• Historical M4.0+ earthquakes since 2014</a:t>
            </a:r>
          </a:p>
        </p:txBody>
      </p:sp>
      <p:sp>
        <p:nvSpPr>
          <p:cNvPr id="19" name="TextBox 18"/>
          <p:cNvSpPr txBox="1"/>
          <p:nvPr/>
        </p:nvSpPr>
        <p:spPr>
          <a:xfrm>
            <a:off x="4343400" y="2596896"/>
            <a:ext cx="3383280" cy="402336"/>
          </a:xfrm>
          <a:prstGeom prst="rect">
            <a:avLst/>
          </a:prstGeom>
          <a:noFill/>
        </p:spPr>
        <p:txBody>
          <a:bodyPr wrap="square">
            <a:spAutoFit/>
          </a:bodyPr>
          <a:lstStyle/>
          <a:p>
            <a:pPr algn="l"/>
            <a:r>
              <a:rPr sz="1300" b="0">
                <a:solidFill>
                  <a:srgbClr val="E0E0E0"/>
                </a:solidFill>
              </a:rPr>
              <a:t>• Within 100 km radius of epicenter</a:t>
            </a:r>
          </a:p>
        </p:txBody>
      </p:sp>
      <p:sp>
        <p:nvSpPr>
          <p:cNvPr id="20" name="TextBox 19"/>
          <p:cNvSpPr txBox="1"/>
          <p:nvPr/>
        </p:nvSpPr>
        <p:spPr>
          <a:xfrm>
            <a:off x="4343400" y="3026663"/>
            <a:ext cx="3383280" cy="402336"/>
          </a:xfrm>
          <a:prstGeom prst="rect">
            <a:avLst/>
          </a:prstGeom>
          <a:noFill/>
        </p:spPr>
        <p:txBody>
          <a:bodyPr wrap="square">
            <a:spAutoFit/>
          </a:bodyPr>
          <a:lstStyle/>
          <a:p>
            <a:pPr algn="l"/>
            <a:r>
              <a:rPr sz="1300" b="0">
                <a:solidFill>
                  <a:srgbClr val="E0E0E0"/>
                </a:solidFill>
              </a:rPr>
              <a:t>• Used to assess regional seismic risk</a:t>
            </a:r>
          </a:p>
        </p:txBody>
      </p:sp>
      <p:sp>
        <p:nvSpPr>
          <p:cNvPr id="21" name="Rectangle 20"/>
          <p:cNvSpPr/>
          <p:nvPr/>
        </p:nvSpPr>
        <p:spPr>
          <a:xfrm>
            <a:off x="8138160" y="1417320"/>
            <a:ext cx="3657600" cy="2286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8138160" y="1417320"/>
            <a:ext cx="3657600" cy="64008"/>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275320" y="1527048"/>
            <a:ext cx="3383280" cy="347472"/>
          </a:xfrm>
          <a:prstGeom prst="rect">
            <a:avLst/>
          </a:prstGeom>
          <a:noFill/>
        </p:spPr>
        <p:txBody>
          <a:bodyPr wrap="square">
            <a:spAutoFit/>
          </a:bodyPr>
          <a:lstStyle/>
          <a:p>
            <a:pPr algn="l"/>
            <a:r>
              <a:rPr sz="1500" b="1">
                <a:solidFill>
                  <a:srgbClr val="2196F3"/>
                </a:solidFill>
              </a:rPr>
              <a:t>WorldPop API</a:t>
            </a:r>
          </a:p>
        </p:txBody>
      </p:sp>
      <p:sp>
        <p:nvSpPr>
          <p:cNvPr id="24" name="TextBox 23"/>
          <p:cNvSpPr txBox="1"/>
          <p:nvPr/>
        </p:nvSpPr>
        <p:spPr>
          <a:xfrm>
            <a:off x="8275320" y="1856232"/>
            <a:ext cx="3383280" cy="274320"/>
          </a:xfrm>
          <a:prstGeom prst="rect">
            <a:avLst/>
          </a:prstGeom>
          <a:noFill/>
        </p:spPr>
        <p:txBody>
          <a:bodyPr wrap="square">
            <a:spAutoFit/>
          </a:bodyPr>
          <a:lstStyle/>
          <a:p>
            <a:pPr algn="l"/>
            <a:r>
              <a:rPr sz="1100" b="0">
                <a:solidFill>
                  <a:srgbClr val="AAAAAA"/>
                </a:solidFill>
              </a:rPr>
              <a:t>worldpop.org</a:t>
            </a:r>
          </a:p>
        </p:txBody>
      </p:sp>
      <p:sp>
        <p:nvSpPr>
          <p:cNvPr id="25" name="TextBox 24"/>
          <p:cNvSpPr txBox="1"/>
          <p:nvPr/>
        </p:nvSpPr>
        <p:spPr>
          <a:xfrm>
            <a:off x="8275320" y="2167128"/>
            <a:ext cx="3383280" cy="402336"/>
          </a:xfrm>
          <a:prstGeom prst="rect">
            <a:avLst/>
          </a:prstGeom>
          <a:noFill/>
        </p:spPr>
        <p:txBody>
          <a:bodyPr wrap="square">
            <a:spAutoFit/>
          </a:bodyPr>
          <a:lstStyle/>
          <a:p>
            <a:pPr algn="l"/>
            <a:r>
              <a:rPr sz="1300" b="0">
                <a:solidFill>
                  <a:srgbClr val="E0E0E0"/>
                </a:solidFill>
              </a:rPr>
              <a:t>• Population density around the epicenter</a:t>
            </a:r>
          </a:p>
        </p:txBody>
      </p:sp>
      <p:sp>
        <p:nvSpPr>
          <p:cNvPr id="26" name="TextBox 25"/>
          <p:cNvSpPr txBox="1"/>
          <p:nvPr/>
        </p:nvSpPr>
        <p:spPr>
          <a:xfrm>
            <a:off x="8275320" y="2596896"/>
            <a:ext cx="3383280" cy="292388"/>
          </a:xfrm>
          <a:prstGeom prst="rect">
            <a:avLst/>
          </a:prstGeom>
          <a:noFill/>
        </p:spPr>
        <p:txBody>
          <a:bodyPr wrap="square">
            <a:spAutoFit/>
          </a:bodyPr>
          <a:lstStyle/>
          <a:p>
            <a:pPr algn="l"/>
            <a:r>
              <a:rPr sz="1300" b="0" dirty="0">
                <a:solidFill>
                  <a:srgbClr val="E0E0E0"/>
                </a:solidFill>
              </a:rPr>
              <a:t>• </a:t>
            </a:r>
            <a:r>
              <a:rPr lang="de-CH" sz="1300" b="0" dirty="0" err="1">
                <a:solidFill>
                  <a:srgbClr val="E0E0E0"/>
                </a:solidFill>
              </a:rPr>
              <a:t>data</a:t>
            </a:r>
            <a:r>
              <a:rPr lang="de-CH" sz="1300" b="0" dirty="0">
                <a:solidFill>
                  <a:srgbClr val="E0E0E0"/>
                </a:solidFill>
              </a:rPr>
              <a:t> </a:t>
            </a:r>
            <a:r>
              <a:rPr lang="de-CH" sz="1300" b="0" dirty="0" err="1">
                <a:solidFill>
                  <a:srgbClr val="E0E0E0"/>
                </a:solidFill>
              </a:rPr>
              <a:t>from</a:t>
            </a:r>
            <a:r>
              <a:rPr lang="de-CH" sz="1300" b="0" dirty="0">
                <a:solidFill>
                  <a:srgbClr val="E0E0E0"/>
                </a:solidFill>
              </a:rPr>
              <a:t> </a:t>
            </a:r>
            <a:r>
              <a:rPr sz="1300" b="0" dirty="0">
                <a:solidFill>
                  <a:srgbClr val="E0E0E0"/>
                </a:solidFill>
              </a:rPr>
              <a:t>2020</a:t>
            </a:r>
          </a:p>
        </p:txBody>
      </p:sp>
      <p:sp>
        <p:nvSpPr>
          <p:cNvPr id="27" name="TextBox 26"/>
          <p:cNvSpPr txBox="1"/>
          <p:nvPr/>
        </p:nvSpPr>
        <p:spPr>
          <a:xfrm>
            <a:off x="8275320" y="3026663"/>
            <a:ext cx="3383280" cy="402336"/>
          </a:xfrm>
          <a:prstGeom prst="rect">
            <a:avLst/>
          </a:prstGeom>
          <a:noFill/>
        </p:spPr>
        <p:txBody>
          <a:bodyPr wrap="square">
            <a:spAutoFit/>
          </a:bodyPr>
          <a:lstStyle/>
          <a:p>
            <a:pPr algn="l"/>
            <a:r>
              <a:rPr sz="1300" b="0" dirty="0">
                <a:solidFill>
                  <a:srgbClr val="E0E0E0"/>
                </a:solidFill>
              </a:rPr>
              <a:t>• Indicates how many people are affected</a:t>
            </a:r>
          </a:p>
        </p:txBody>
      </p:sp>
      <p:sp>
        <p:nvSpPr>
          <p:cNvPr id="28" name="Rectangle 27"/>
          <p:cNvSpPr/>
          <p:nvPr/>
        </p:nvSpPr>
        <p:spPr>
          <a:xfrm>
            <a:off x="1965960" y="3931920"/>
            <a:ext cx="3657600" cy="2286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1965960" y="3931920"/>
            <a:ext cx="3657600" cy="64008"/>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2103120" y="4041648"/>
            <a:ext cx="3383280" cy="347472"/>
          </a:xfrm>
          <a:prstGeom prst="rect">
            <a:avLst/>
          </a:prstGeom>
          <a:noFill/>
        </p:spPr>
        <p:txBody>
          <a:bodyPr wrap="square">
            <a:spAutoFit/>
          </a:bodyPr>
          <a:lstStyle/>
          <a:p>
            <a:pPr algn="l"/>
            <a:r>
              <a:rPr sz="1500" b="1">
                <a:solidFill>
                  <a:srgbClr val="FF9800"/>
                </a:solidFill>
              </a:rPr>
              <a:t>Overpass API</a:t>
            </a:r>
          </a:p>
        </p:txBody>
      </p:sp>
      <p:sp>
        <p:nvSpPr>
          <p:cNvPr id="31" name="TextBox 30"/>
          <p:cNvSpPr txBox="1"/>
          <p:nvPr/>
        </p:nvSpPr>
        <p:spPr>
          <a:xfrm>
            <a:off x="2103120" y="4370832"/>
            <a:ext cx="3383280" cy="274320"/>
          </a:xfrm>
          <a:prstGeom prst="rect">
            <a:avLst/>
          </a:prstGeom>
          <a:noFill/>
        </p:spPr>
        <p:txBody>
          <a:bodyPr wrap="square">
            <a:spAutoFit/>
          </a:bodyPr>
          <a:lstStyle/>
          <a:p>
            <a:pPr algn="l"/>
            <a:r>
              <a:rPr sz="1100" b="0">
                <a:solidFill>
                  <a:srgbClr val="AAAAAA"/>
                </a:solidFill>
              </a:rPr>
              <a:t>OpenStreetMap infrastructure data</a:t>
            </a:r>
          </a:p>
        </p:txBody>
      </p:sp>
      <p:sp>
        <p:nvSpPr>
          <p:cNvPr id="32" name="TextBox 31"/>
          <p:cNvSpPr txBox="1"/>
          <p:nvPr/>
        </p:nvSpPr>
        <p:spPr>
          <a:xfrm>
            <a:off x="2103120" y="4681728"/>
            <a:ext cx="3383280" cy="402336"/>
          </a:xfrm>
          <a:prstGeom prst="rect">
            <a:avLst/>
          </a:prstGeom>
          <a:noFill/>
        </p:spPr>
        <p:txBody>
          <a:bodyPr wrap="square">
            <a:spAutoFit/>
          </a:bodyPr>
          <a:lstStyle/>
          <a:p>
            <a:pPr algn="l"/>
            <a:r>
              <a:rPr sz="1300" b="0">
                <a:solidFill>
                  <a:srgbClr val="E0E0E0"/>
                </a:solidFill>
              </a:rPr>
              <a:t>• Hospitals, police stations, aerodromes</a:t>
            </a:r>
          </a:p>
        </p:txBody>
      </p:sp>
      <p:sp>
        <p:nvSpPr>
          <p:cNvPr id="33" name="TextBox 32"/>
          <p:cNvSpPr txBox="1"/>
          <p:nvPr/>
        </p:nvSpPr>
        <p:spPr>
          <a:xfrm>
            <a:off x="2103120" y="5111496"/>
            <a:ext cx="3383280" cy="402336"/>
          </a:xfrm>
          <a:prstGeom prst="rect">
            <a:avLst/>
          </a:prstGeom>
          <a:noFill/>
        </p:spPr>
        <p:txBody>
          <a:bodyPr wrap="square">
            <a:spAutoFit/>
          </a:bodyPr>
          <a:lstStyle/>
          <a:p>
            <a:pPr algn="l"/>
            <a:r>
              <a:rPr sz="1300" b="0">
                <a:solidFill>
                  <a:srgbClr val="E0E0E0"/>
                </a:solidFill>
              </a:rPr>
              <a:t>• Within a defined radius</a:t>
            </a:r>
          </a:p>
        </p:txBody>
      </p:sp>
      <p:sp>
        <p:nvSpPr>
          <p:cNvPr id="34" name="TextBox 33"/>
          <p:cNvSpPr txBox="1"/>
          <p:nvPr/>
        </p:nvSpPr>
        <p:spPr>
          <a:xfrm>
            <a:off x="2103120" y="5541263"/>
            <a:ext cx="3383280" cy="402336"/>
          </a:xfrm>
          <a:prstGeom prst="rect">
            <a:avLst/>
          </a:prstGeom>
          <a:noFill/>
        </p:spPr>
        <p:txBody>
          <a:bodyPr wrap="square">
            <a:spAutoFit/>
          </a:bodyPr>
          <a:lstStyle/>
          <a:p>
            <a:pPr algn="l"/>
            <a:r>
              <a:rPr sz="1300" b="0">
                <a:solidFill>
                  <a:srgbClr val="E0E0E0"/>
                </a:solidFill>
              </a:rPr>
              <a:t>• Indicates emergency response capacity</a:t>
            </a:r>
          </a:p>
        </p:txBody>
      </p:sp>
      <p:sp>
        <p:nvSpPr>
          <p:cNvPr id="35" name="Rectangle 34"/>
          <p:cNvSpPr/>
          <p:nvPr/>
        </p:nvSpPr>
        <p:spPr>
          <a:xfrm>
            <a:off x="5897879" y="3931920"/>
            <a:ext cx="3657600" cy="2286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Rectangle 35"/>
          <p:cNvSpPr/>
          <p:nvPr/>
        </p:nvSpPr>
        <p:spPr>
          <a:xfrm>
            <a:off x="5897879" y="3931920"/>
            <a:ext cx="3657600" cy="64008"/>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6"/>
          <p:cNvSpPr txBox="1"/>
          <p:nvPr/>
        </p:nvSpPr>
        <p:spPr>
          <a:xfrm>
            <a:off x="6035039" y="4041648"/>
            <a:ext cx="3383280" cy="347472"/>
          </a:xfrm>
          <a:prstGeom prst="rect">
            <a:avLst/>
          </a:prstGeom>
          <a:noFill/>
        </p:spPr>
        <p:txBody>
          <a:bodyPr wrap="square">
            <a:spAutoFit/>
          </a:bodyPr>
          <a:lstStyle/>
          <a:p>
            <a:pPr algn="l"/>
            <a:r>
              <a:rPr sz="1500" b="1">
                <a:solidFill>
                  <a:srgbClr val="9C27B0"/>
                </a:solidFill>
              </a:rPr>
              <a:t>Nominatim API</a:t>
            </a:r>
          </a:p>
        </p:txBody>
      </p:sp>
      <p:sp>
        <p:nvSpPr>
          <p:cNvPr id="38" name="TextBox 37"/>
          <p:cNvSpPr txBox="1"/>
          <p:nvPr/>
        </p:nvSpPr>
        <p:spPr>
          <a:xfrm>
            <a:off x="6035039" y="4370832"/>
            <a:ext cx="3383280" cy="274320"/>
          </a:xfrm>
          <a:prstGeom prst="rect">
            <a:avLst/>
          </a:prstGeom>
          <a:noFill/>
        </p:spPr>
        <p:txBody>
          <a:bodyPr wrap="square">
            <a:spAutoFit/>
          </a:bodyPr>
          <a:lstStyle/>
          <a:p>
            <a:pPr algn="l"/>
            <a:r>
              <a:rPr sz="1100" b="0">
                <a:solidFill>
                  <a:srgbClr val="AAAAAA"/>
                </a:solidFill>
              </a:rPr>
              <a:t>OpenStreetMap reverse geocoding</a:t>
            </a:r>
          </a:p>
        </p:txBody>
      </p:sp>
      <p:sp>
        <p:nvSpPr>
          <p:cNvPr id="39" name="TextBox 38"/>
          <p:cNvSpPr txBox="1"/>
          <p:nvPr/>
        </p:nvSpPr>
        <p:spPr>
          <a:xfrm>
            <a:off x="6035039" y="4681728"/>
            <a:ext cx="3383280" cy="402336"/>
          </a:xfrm>
          <a:prstGeom prst="rect">
            <a:avLst/>
          </a:prstGeom>
          <a:noFill/>
        </p:spPr>
        <p:txBody>
          <a:bodyPr wrap="square">
            <a:spAutoFit/>
          </a:bodyPr>
          <a:lstStyle/>
          <a:p>
            <a:pPr algn="l"/>
            <a:r>
              <a:rPr sz="1300" b="0">
                <a:solidFill>
                  <a:srgbClr val="E0E0E0"/>
                </a:solidFill>
              </a:rPr>
              <a:t>• Converts coordinates to place names</a:t>
            </a:r>
          </a:p>
        </p:txBody>
      </p:sp>
      <p:sp>
        <p:nvSpPr>
          <p:cNvPr id="40" name="TextBox 39"/>
          <p:cNvSpPr txBox="1"/>
          <p:nvPr/>
        </p:nvSpPr>
        <p:spPr>
          <a:xfrm>
            <a:off x="6035039" y="5111496"/>
            <a:ext cx="3383280" cy="402336"/>
          </a:xfrm>
          <a:prstGeom prst="rect">
            <a:avLst/>
          </a:prstGeom>
          <a:noFill/>
        </p:spPr>
        <p:txBody>
          <a:bodyPr wrap="square">
            <a:spAutoFit/>
          </a:bodyPr>
          <a:lstStyle/>
          <a:p>
            <a:pPr algn="l"/>
            <a:r>
              <a:rPr sz="1300" b="0">
                <a:solidFill>
                  <a:srgbClr val="E0E0E0"/>
                </a:solidFill>
              </a:rPr>
              <a:t>• Returns country, state, settlement</a:t>
            </a:r>
          </a:p>
        </p:txBody>
      </p:sp>
      <p:sp>
        <p:nvSpPr>
          <p:cNvPr id="41" name="TextBox 40"/>
          <p:cNvSpPr txBox="1"/>
          <p:nvPr/>
        </p:nvSpPr>
        <p:spPr>
          <a:xfrm>
            <a:off x="6035039" y="5541263"/>
            <a:ext cx="3383280" cy="402336"/>
          </a:xfrm>
          <a:prstGeom prst="rect">
            <a:avLst/>
          </a:prstGeom>
          <a:noFill/>
        </p:spPr>
        <p:txBody>
          <a:bodyPr wrap="square">
            <a:spAutoFit/>
          </a:bodyPr>
          <a:lstStyle/>
          <a:p>
            <a:pPr algn="l"/>
            <a:r>
              <a:rPr sz="1300" b="0">
                <a:solidFill>
                  <a:srgbClr val="E0E0E0"/>
                </a:solidFill>
              </a:rPr>
              <a:t>• Human-readable location labelling</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chemeClr val="bg1">
              <a:lumMod val="85000"/>
            </a:scheme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1"/>
            <a:ext cx="3312000" cy="6861962"/>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3266280" y="0"/>
            <a:ext cx="45720" cy="686196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70196" y="100377"/>
            <a:ext cx="3241804" cy="1384995"/>
          </a:xfrm>
          <a:prstGeom prst="rect">
            <a:avLst/>
          </a:prstGeom>
          <a:noFill/>
        </p:spPr>
        <p:txBody>
          <a:bodyPr wrap="square">
            <a:spAutoFit/>
          </a:bodyPr>
          <a:lstStyle/>
          <a:p>
            <a:pPr algn="l"/>
            <a:r>
              <a:rPr lang="de-CH" sz="2800" b="1" dirty="0">
                <a:solidFill>
                  <a:srgbClr val="FFFFFF"/>
                </a:solidFill>
              </a:rPr>
              <a:t>System </a:t>
            </a:r>
            <a:r>
              <a:rPr sz="2800" b="1" dirty="0">
                <a:solidFill>
                  <a:srgbClr val="FFFFFF"/>
                </a:solidFill>
              </a:rPr>
              <a:t>Architecture</a:t>
            </a:r>
            <a:endParaRPr lang="de-CH" sz="2800" b="1" dirty="0">
              <a:solidFill>
                <a:srgbClr val="FFFFFF"/>
              </a:solidFill>
            </a:endParaRPr>
          </a:p>
          <a:p>
            <a:pPr algn="l"/>
            <a:endParaRPr lang="de-CH" sz="2800" b="1" dirty="0">
              <a:solidFill>
                <a:srgbClr val="FFFFFF"/>
              </a:solidFill>
            </a:endParaRPr>
          </a:p>
          <a:p>
            <a:pPr algn="l"/>
            <a:r>
              <a:rPr sz="2800" b="1" dirty="0">
                <a:solidFill>
                  <a:srgbClr val="FFFFFF"/>
                </a:solidFill>
              </a:rPr>
              <a:t>Medallion Pattern</a:t>
            </a:r>
          </a:p>
        </p:txBody>
      </p:sp>
      <p:sp>
        <p:nvSpPr>
          <p:cNvPr id="6" name="TextBox 5"/>
          <p:cNvSpPr txBox="1"/>
          <p:nvPr/>
        </p:nvSpPr>
        <p:spPr>
          <a:xfrm>
            <a:off x="70196" y="3028104"/>
            <a:ext cx="3059503" cy="830997"/>
          </a:xfrm>
          <a:prstGeom prst="rect">
            <a:avLst/>
          </a:prstGeom>
          <a:noFill/>
        </p:spPr>
        <p:txBody>
          <a:bodyPr wrap="square">
            <a:spAutoFit/>
          </a:bodyPr>
          <a:lstStyle/>
          <a:p>
            <a:pPr algn="l"/>
            <a:r>
              <a:rPr sz="1600" b="0" dirty="0">
                <a:solidFill>
                  <a:srgbClr val="E0E0E0"/>
                </a:solidFill>
              </a:rPr>
              <a:t>Data flows through three quality </a:t>
            </a:r>
            <a:endParaRPr lang="de-CH" sz="1600" b="0" dirty="0">
              <a:solidFill>
                <a:srgbClr val="E0E0E0"/>
              </a:solidFill>
            </a:endParaRPr>
          </a:p>
          <a:p>
            <a:pPr algn="l"/>
            <a:r>
              <a:rPr sz="1600" b="0" dirty="0">
                <a:solidFill>
                  <a:srgbClr val="E0E0E0"/>
                </a:solidFill>
              </a:rPr>
              <a:t>layers before reaching the dashboard</a:t>
            </a:r>
          </a:p>
        </p:txBody>
      </p:sp>
      <p:pic>
        <p:nvPicPr>
          <p:cNvPr id="51" name="Grafik 50" descr="Ein Bild, das Text, Screenshot, Software, Webseite enthält.&#10;&#10;Automatisch generierte Beschreibung">
            <a:extLst>
              <a:ext uri="{FF2B5EF4-FFF2-40B4-BE49-F238E27FC236}">
                <a16:creationId xmlns:a16="http://schemas.microsoft.com/office/drawing/2014/main" id="{8AC14C72-876B-4837-6578-ED06A329753F}"/>
              </a:ext>
            </a:extLst>
          </p:cNvPr>
          <p:cNvPicPr>
            <a:picLocks noChangeAspect="1"/>
          </p:cNvPicPr>
          <p:nvPr/>
        </p:nvPicPr>
        <p:blipFill>
          <a:blip r:embed="rId2"/>
          <a:stretch>
            <a:fillRect/>
          </a:stretch>
        </p:blipFill>
        <p:spPr>
          <a:xfrm>
            <a:off x="3439093" y="0"/>
            <a:ext cx="8620766" cy="6858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CD6F12BA-54F0-AE21-CAFD-A40FC4379E5C}"/>
              </a:ext>
            </a:extLst>
          </p:cNvPr>
          <p:cNvSpPr/>
          <p:nvPr/>
        </p:nvSpPr>
        <p:spPr>
          <a:xfrm>
            <a:off x="0" y="-1"/>
            <a:ext cx="3312000" cy="6807097"/>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3">
            <a:extLst>
              <a:ext uri="{FF2B5EF4-FFF2-40B4-BE49-F238E27FC236}">
                <a16:creationId xmlns:a16="http://schemas.microsoft.com/office/drawing/2014/main" id="{EA9ACC88-FAB3-A9B7-C361-813179732F48}"/>
              </a:ext>
            </a:extLst>
          </p:cNvPr>
          <p:cNvSpPr/>
          <p:nvPr/>
        </p:nvSpPr>
        <p:spPr>
          <a:xfrm>
            <a:off x="0" y="6807097"/>
            <a:ext cx="3312000"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4">
            <a:extLst>
              <a:ext uri="{FF2B5EF4-FFF2-40B4-BE49-F238E27FC236}">
                <a16:creationId xmlns:a16="http://schemas.microsoft.com/office/drawing/2014/main" id="{41B086AE-39C1-C2AB-6DFD-E1AE0C0D234A}"/>
              </a:ext>
            </a:extLst>
          </p:cNvPr>
          <p:cNvSpPr txBox="1"/>
          <p:nvPr/>
        </p:nvSpPr>
        <p:spPr>
          <a:xfrm>
            <a:off x="70196" y="100377"/>
            <a:ext cx="3241804" cy="1015663"/>
          </a:xfrm>
          <a:prstGeom prst="rect">
            <a:avLst/>
          </a:prstGeom>
          <a:noFill/>
        </p:spPr>
        <p:txBody>
          <a:bodyPr wrap="square">
            <a:spAutoFit/>
          </a:bodyPr>
          <a:lstStyle/>
          <a:p>
            <a:pPr algn="l"/>
            <a:r>
              <a:rPr lang="de-CH" sz="2800" b="1" dirty="0">
                <a:solidFill>
                  <a:srgbClr val="FFFFFF"/>
                </a:solidFill>
              </a:rPr>
              <a:t>Software</a:t>
            </a:r>
            <a:r>
              <a:rPr lang="de-CH" sz="3200" b="1" dirty="0">
                <a:solidFill>
                  <a:srgbClr val="FFFFFF"/>
                </a:solidFill>
              </a:rPr>
              <a:t> </a:t>
            </a:r>
            <a:r>
              <a:rPr lang="de-CH" sz="2800" b="1" dirty="0">
                <a:solidFill>
                  <a:srgbClr val="FFFFFF"/>
                </a:solidFill>
              </a:rPr>
              <a:t>Architecture</a:t>
            </a:r>
            <a:endParaRPr sz="2800" b="1" dirty="0">
              <a:solidFill>
                <a:srgbClr val="FFFFFF"/>
              </a:solidFill>
            </a:endParaRPr>
          </a:p>
        </p:txBody>
      </p:sp>
      <p:pic>
        <p:nvPicPr>
          <p:cNvPr id="12" name="Grafik 11">
            <a:extLst>
              <a:ext uri="{FF2B5EF4-FFF2-40B4-BE49-F238E27FC236}">
                <a16:creationId xmlns:a16="http://schemas.microsoft.com/office/drawing/2014/main" id="{D40A3507-EEE0-C53F-95CD-3D50A1C9A5BE}"/>
              </a:ext>
            </a:extLst>
          </p:cNvPr>
          <p:cNvPicPr>
            <a:picLocks noChangeAspect="1"/>
          </p:cNvPicPr>
          <p:nvPr/>
        </p:nvPicPr>
        <p:blipFill>
          <a:blip r:embed="rId2"/>
          <a:stretch>
            <a:fillRect/>
          </a:stretch>
        </p:blipFill>
        <p:spPr>
          <a:xfrm>
            <a:off x="5194174" y="75732"/>
            <a:ext cx="1800476" cy="6706536"/>
          </a:xfrm>
          <a:prstGeom prst="rect">
            <a:avLst/>
          </a:prstGeom>
        </p:spPr>
      </p:pic>
    </p:spTree>
    <p:extLst>
      <p:ext uri="{BB962C8B-B14F-4D97-AF65-F5344CB8AC3E}">
        <p14:creationId xmlns:p14="http://schemas.microsoft.com/office/powerpoint/2010/main" val="3745503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88952"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1430000" cy="731520"/>
          </a:xfrm>
          <a:prstGeom prst="rect">
            <a:avLst/>
          </a:prstGeom>
          <a:noFill/>
        </p:spPr>
        <p:txBody>
          <a:bodyPr wrap="square">
            <a:spAutoFit/>
          </a:bodyPr>
          <a:lstStyle/>
          <a:p>
            <a:pPr algn="l"/>
            <a:r>
              <a:rPr sz="3200" b="1">
                <a:solidFill>
                  <a:srgbClr val="FFFFFF"/>
                </a:solidFill>
              </a:rPr>
              <a:t>Technologies Used</a:t>
            </a:r>
          </a:p>
        </p:txBody>
      </p:sp>
      <p:sp>
        <p:nvSpPr>
          <p:cNvPr id="6" name="TextBox 5"/>
          <p:cNvSpPr txBox="1"/>
          <p:nvPr/>
        </p:nvSpPr>
        <p:spPr>
          <a:xfrm>
            <a:off x="365760" y="777240"/>
            <a:ext cx="11430000" cy="365760"/>
          </a:xfrm>
          <a:prstGeom prst="rect">
            <a:avLst/>
          </a:prstGeom>
          <a:noFill/>
        </p:spPr>
        <p:txBody>
          <a:bodyPr wrap="square">
            <a:spAutoFit/>
          </a:bodyPr>
          <a:lstStyle/>
          <a:p>
            <a:pPr algn="l"/>
            <a:r>
              <a:rPr sz="1600" b="0">
                <a:solidFill>
                  <a:srgbClr val="E0E0E0"/>
                </a:solidFill>
              </a:rPr>
              <a:t>Full stack overview</a:t>
            </a:r>
          </a:p>
        </p:txBody>
      </p:sp>
      <p:sp>
        <p:nvSpPr>
          <p:cNvPr id="7" name="Rectangle 6"/>
          <p:cNvSpPr/>
          <p:nvPr/>
        </p:nvSpPr>
        <p:spPr>
          <a:xfrm>
            <a:off x="274320" y="146304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463040"/>
            <a:ext cx="365760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591056"/>
            <a:ext cx="3383280" cy="365760"/>
          </a:xfrm>
          <a:prstGeom prst="rect">
            <a:avLst/>
          </a:prstGeom>
          <a:noFill/>
        </p:spPr>
        <p:txBody>
          <a:bodyPr wrap="square">
            <a:spAutoFit/>
          </a:bodyPr>
          <a:lstStyle/>
          <a:p>
            <a:pPr algn="l"/>
            <a:r>
              <a:rPr sz="1600" b="1">
                <a:solidFill>
                  <a:srgbClr val="FF4B4B"/>
                </a:solidFill>
              </a:rPr>
              <a:t>Event Streaming</a:t>
            </a:r>
          </a:p>
        </p:txBody>
      </p:sp>
      <p:sp>
        <p:nvSpPr>
          <p:cNvPr id="10" name="TextBox 9"/>
          <p:cNvSpPr txBox="1"/>
          <p:nvPr/>
        </p:nvSpPr>
        <p:spPr>
          <a:xfrm>
            <a:off x="457200" y="2057400"/>
            <a:ext cx="3291840" cy="484632"/>
          </a:xfrm>
          <a:prstGeom prst="rect">
            <a:avLst/>
          </a:prstGeom>
          <a:noFill/>
        </p:spPr>
        <p:txBody>
          <a:bodyPr wrap="square">
            <a:spAutoFit/>
          </a:bodyPr>
          <a:lstStyle/>
          <a:p>
            <a:pPr algn="l"/>
            <a:r>
              <a:rPr sz="1300" b="0">
                <a:solidFill>
                  <a:srgbClr val="E0E0E0"/>
                </a:solidFill>
              </a:rPr>
              <a:t>• Apache Kafka (Confluent CP 7.5.3)</a:t>
            </a:r>
          </a:p>
        </p:txBody>
      </p:sp>
      <p:sp>
        <p:nvSpPr>
          <p:cNvPr id="11" name="TextBox 10"/>
          <p:cNvSpPr txBox="1"/>
          <p:nvPr/>
        </p:nvSpPr>
        <p:spPr>
          <a:xfrm>
            <a:off x="457200" y="2578608"/>
            <a:ext cx="3291840" cy="484632"/>
          </a:xfrm>
          <a:prstGeom prst="rect">
            <a:avLst/>
          </a:prstGeom>
          <a:noFill/>
        </p:spPr>
        <p:txBody>
          <a:bodyPr wrap="square">
            <a:spAutoFit/>
          </a:bodyPr>
          <a:lstStyle/>
          <a:p>
            <a:pPr algn="l"/>
            <a:r>
              <a:rPr sz="1300" b="0">
                <a:solidFill>
                  <a:srgbClr val="E0E0E0"/>
                </a:solidFill>
              </a:rPr>
              <a:t>• Zookeeper (cluster coordination)</a:t>
            </a:r>
          </a:p>
        </p:txBody>
      </p:sp>
      <p:sp>
        <p:nvSpPr>
          <p:cNvPr id="13" name="Rectangle 12"/>
          <p:cNvSpPr/>
          <p:nvPr/>
        </p:nvSpPr>
        <p:spPr>
          <a:xfrm>
            <a:off x="4206240" y="146304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4206240" y="1463040"/>
            <a:ext cx="3657600" cy="7315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4343400" y="1591056"/>
            <a:ext cx="3383280" cy="365760"/>
          </a:xfrm>
          <a:prstGeom prst="rect">
            <a:avLst/>
          </a:prstGeom>
          <a:noFill/>
        </p:spPr>
        <p:txBody>
          <a:bodyPr wrap="square">
            <a:spAutoFit/>
          </a:bodyPr>
          <a:lstStyle/>
          <a:p>
            <a:pPr algn="l"/>
            <a:r>
              <a:rPr sz="1600" b="1">
                <a:solidFill>
                  <a:srgbClr val="FF9800"/>
                </a:solidFill>
              </a:rPr>
              <a:t>Object Storage</a:t>
            </a:r>
          </a:p>
        </p:txBody>
      </p:sp>
      <p:sp>
        <p:nvSpPr>
          <p:cNvPr id="16" name="TextBox 15"/>
          <p:cNvSpPr txBox="1"/>
          <p:nvPr/>
        </p:nvSpPr>
        <p:spPr>
          <a:xfrm>
            <a:off x="4389120" y="2057400"/>
            <a:ext cx="3291840" cy="1092607"/>
          </a:xfrm>
          <a:prstGeom prst="rect">
            <a:avLst/>
          </a:prstGeom>
          <a:noFill/>
        </p:spPr>
        <p:txBody>
          <a:bodyPr wrap="square">
            <a:spAutoFit/>
          </a:bodyPr>
          <a:lstStyle/>
          <a:p>
            <a:r>
              <a:rPr lang="de-CH" sz="1300" b="0" dirty="0">
                <a:solidFill>
                  <a:srgbClr val="E0E0E0"/>
                </a:solidFill>
              </a:rPr>
              <a:t>• Bronze-Layer: MongoDB – </a:t>
            </a:r>
            <a:r>
              <a:rPr lang="de-CH" sz="1300" b="0" dirty="0" err="1">
                <a:solidFill>
                  <a:srgbClr val="E0E0E0"/>
                </a:solidFill>
              </a:rPr>
              <a:t>raw</a:t>
            </a:r>
            <a:r>
              <a:rPr lang="de-CH" sz="1300" b="0" dirty="0">
                <a:solidFill>
                  <a:srgbClr val="E0E0E0"/>
                </a:solidFill>
              </a:rPr>
              <a:t> </a:t>
            </a:r>
            <a:r>
              <a:rPr lang="de-CH" sz="1300" b="0" dirty="0" err="1">
                <a:solidFill>
                  <a:srgbClr val="E0E0E0"/>
                </a:solidFill>
              </a:rPr>
              <a:t>data</a:t>
            </a:r>
            <a:r>
              <a:rPr lang="de-CH" sz="1300" dirty="0">
                <a:solidFill>
                  <a:srgbClr val="E0E0E0"/>
                </a:solidFill>
              </a:rPr>
              <a:t>, </a:t>
            </a:r>
            <a:r>
              <a:rPr lang="de-CH" sz="1300" b="0" dirty="0" err="1">
                <a:solidFill>
                  <a:srgbClr val="E0E0E0"/>
                </a:solidFill>
              </a:rPr>
              <a:t>json</a:t>
            </a:r>
            <a:r>
              <a:rPr lang="de-CH" sz="1300" b="0" dirty="0">
                <a:solidFill>
                  <a:srgbClr val="E0E0E0"/>
                </a:solidFill>
              </a:rPr>
              <a:t> </a:t>
            </a:r>
            <a:r>
              <a:rPr lang="de-CH" sz="1300" b="0" dirty="0" err="1">
                <a:solidFill>
                  <a:srgbClr val="E0E0E0"/>
                </a:solidFill>
              </a:rPr>
              <a:t>objects</a:t>
            </a:r>
            <a:endParaRPr lang="de-CH" sz="1300" b="0" dirty="0">
              <a:solidFill>
                <a:srgbClr val="E0E0E0"/>
              </a:solidFill>
            </a:endParaRPr>
          </a:p>
          <a:p>
            <a:pPr algn="l"/>
            <a:endParaRPr lang="de-CH" sz="1300" b="0" dirty="0">
              <a:solidFill>
                <a:srgbClr val="E0E0E0"/>
              </a:solidFill>
            </a:endParaRPr>
          </a:p>
          <a:p>
            <a:pPr algn="l"/>
            <a:r>
              <a:rPr sz="1300" b="0" dirty="0">
                <a:solidFill>
                  <a:srgbClr val="E0E0E0"/>
                </a:solidFill>
              </a:rPr>
              <a:t>• </a:t>
            </a:r>
            <a:r>
              <a:rPr lang="de-CH" sz="1300" b="0" dirty="0" err="1">
                <a:solidFill>
                  <a:srgbClr val="E0E0E0"/>
                </a:solidFill>
              </a:rPr>
              <a:t>Silver</a:t>
            </a:r>
            <a:r>
              <a:rPr lang="de-CH" sz="1300" b="0" dirty="0">
                <a:solidFill>
                  <a:srgbClr val="E0E0E0"/>
                </a:solidFill>
              </a:rPr>
              <a:t>-Layer: </a:t>
            </a:r>
            <a:r>
              <a:rPr sz="1300" b="0" dirty="0" err="1">
                <a:solidFill>
                  <a:srgbClr val="E0E0E0"/>
                </a:solidFill>
              </a:rPr>
              <a:t>MinIO</a:t>
            </a:r>
            <a:r>
              <a:rPr sz="1300" b="0" dirty="0">
                <a:solidFill>
                  <a:srgbClr val="E0E0E0"/>
                </a:solidFill>
              </a:rPr>
              <a:t> — S3-compatible storage</a:t>
            </a:r>
            <a:r>
              <a:rPr lang="de-CH" sz="1300" b="0" dirty="0">
                <a:solidFill>
                  <a:srgbClr val="E0E0E0"/>
                </a:solidFill>
              </a:rPr>
              <a:t> (Parquet)</a:t>
            </a:r>
            <a:endParaRPr sz="1300" b="0" dirty="0">
              <a:solidFill>
                <a:srgbClr val="E0E0E0"/>
              </a:solidFill>
            </a:endParaRPr>
          </a:p>
        </p:txBody>
      </p:sp>
      <p:sp>
        <p:nvSpPr>
          <p:cNvPr id="18" name="TextBox 17"/>
          <p:cNvSpPr txBox="1"/>
          <p:nvPr/>
        </p:nvSpPr>
        <p:spPr>
          <a:xfrm>
            <a:off x="4389120" y="3260057"/>
            <a:ext cx="3291840" cy="484632"/>
          </a:xfrm>
          <a:prstGeom prst="rect">
            <a:avLst/>
          </a:prstGeom>
          <a:noFill/>
        </p:spPr>
        <p:txBody>
          <a:bodyPr wrap="square">
            <a:spAutoFit/>
          </a:bodyPr>
          <a:lstStyle/>
          <a:p>
            <a:pPr algn="l"/>
            <a:r>
              <a:rPr sz="1300" b="0" dirty="0">
                <a:solidFill>
                  <a:srgbClr val="E0E0E0"/>
                </a:solidFill>
              </a:rPr>
              <a:t>• Accessed via boto3 / AWS SDK</a:t>
            </a:r>
          </a:p>
        </p:txBody>
      </p:sp>
      <p:sp>
        <p:nvSpPr>
          <p:cNvPr id="19" name="Rectangle 18"/>
          <p:cNvSpPr/>
          <p:nvPr/>
        </p:nvSpPr>
        <p:spPr>
          <a:xfrm>
            <a:off x="8138160" y="146304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Rectangle 19"/>
          <p:cNvSpPr/>
          <p:nvPr/>
        </p:nvSpPr>
        <p:spPr>
          <a:xfrm>
            <a:off x="8138160" y="1463040"/>
            <a:ext cx="3657600"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8275320" y="1591056"/>
            <a:ext cx="3383280" cy="365760"/>
          </a:xfrm>
          <a:prstGeom prst="rect">
            <a:avLst/>
          </a:prstGeom>
          <a:noFill/>
        </p:spPr>
        <p:txBody>
          <a:bodyPr wrap="square">
            <a:spAutoFit/>
          </a:bodyPr>
          <a:lstStyle/>
          <a:p>
            <a:pPr algn="l"/>
            <a:r>
              <a:rPr sz="1600" b="1">
                <a:solidFill>
                  <a:srgbClr val="4CAF50"/>
                </a:solidFill>
              </a:rPr>
              <a:t>Data Formats</a:t>
            </a:r>
          </a:p>
        </p:txBody>
      </p:sp>
      <p:sp>
        <p:nvSpPr>
          <p:cNvPr id="22" name="TextBox 21"/>
          <p:cNvSpPr txBox="1"/>
          <p:nvPr/>
        </p:nvSpPr>
        <p:spPr>
          <a:xfrm>
            <a:off x="8321040" y="2057400"/>
            <a:ext cx="3291840" cy="484632"/>
          </a:xfrm>
          <a:prstGeom prst="rect">
            <a:avLst/>
          </a:prstGeom>
          <a:noFill/>
        </p:spPr>
        <p:txBody>
          <a:bodyPr wrap="square">
            <a:spAutoFit/>
          </a:bodyPr>
          <a:lstStyle/>
          <a:p>
            <a:pPr algn="l"/>
            <a:r>
              <a:rPr sz="1300" b="0">
                <a:solidFill>
                  <a:srgbClr val="E0E0E0"/>
                </a:solidFill>
              </a:rPr>
              <a:t>• JSON — raw bronze event storage</a:t>
            </a:r>
          </a:p>
        </p:txBody>
      </p:sp>
      <p:sp>
        <p:nvSpPr>
          <p:cNvPr id="23" name="TextBox 22"/>
          <p:cNvSpPr txBox="1"/>
          <p:nvPr/>
        </p:nvSpPr>
        <p:spPr>
          <a:xfrm>
            <a:off x="8321040" y="2578608"/>
            <a:ext cx="3291840" cy="484632"/>
          </a:xfrm>
          <a:prstGeom prst="rect">
            <a:avLst/>
          </a:prstGeom>
          <a:noFill/>
        </p:spPr>
        <p:txBody>
          <a:bodyPr wrap="square">
            <a:spAutoFit/>
          </a:bodyPr>
          <a:lstStyle/>
          <a:p>
            <a:pPr algn="l"/>
            <a:r>
              <a:rPr sz="1300" b="0" dirty="0">
                <a:solidFill>
                  <a:srgbClr val="E0E0E0"/>
                </a:solidFill>
              </a:rPr>
              <a:t>• Apache Parquet — columnar silver storage</a:t>
            </a:r>
          </a:p>
        </p:txBody>
      </p:sp>
      <p:sp>
        <p:nvSpPr>
          <p:cNvPr id="24" name="TextBox 23"/>
          <p:cNvSpPr txBox="1"/>
          <p:nvPr/>
        </p:nvSpPr>
        <p:spPr>
          <a:xfrm>
            <a:off x="8321040" y="3099816"/>
            <a:ext cx="3291840" cy="484632"/>
          </a:xfrm>
          <a:prstGeom prst="rect">
            <a:avLst/>
          </a:prstGeom>
          <a:noFill/>
        </p:spPr>
        <p:txBody>
          <a:bodyPr wrap="square">
            <a:spAutoFit/>
          </a:bodyPr>
          <a:lstStyle/>
          <a:p>
            <a:pPr algn="l"/>
            <a:r>
              <a:rPr sz="1300" b="0">
                <a:solidFill>
                  <a:srgbClr val="E0E0E0"/>
                </a:solidFill>
              </a:rPr>
              <a:t>• PyArrow + pandas for Parquet I/O</a:t>
            </a:r>
          </a:p>
        </p:txBody>
      </p:sp>
      <p:sp>
        <p:nvSpPr>
          <p:cNvPr id="25" name="Rectangle 24"/>
          <p:cNvSpPr/>
          <p:nvPr/>
        </p:nvSpPr>
        <p:spPr>
          <a:xfrm>
            <a:off x="274320" y="406908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274320" y="4069080"/>
            <a:ext cx="3657600"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411480" y="4197096"/>
            <a:ext cx="3383280" cy="365760"/>
          </a:xfrm>
          <a:prstGeom prst="rect">
            <a:avLst/>
          </a:prstGeom>
          <a:noFill/>
        </p:spPr>
        <p:txBody>
          <a:bodyPr wrap="square">
            <a:spAutoFit/>
          </a:bodyPr>
          <a:lstStyle/>
          <a:p>
            <a:pPr algn="l"/>
            <a:r>
              <a:rPr sz="1600" b="1">
                <a:solidFill>
                  <a:srgbClr val="2196F3"/>
                </a:solidFill>
              </a:rPr>
              <a:t>Data Warehouse</a:t>
            </a:r>
          </a:p>
        </p:txBody>
      </p:sp>
      <p:sp>
        <p:nvSpPr>
          <p:cNvPr id="28" name="TextBox 27"/>
          <p:cNvSpPr txBox="1"/>
          <p:nvPr/>
        </p:nvSpPr>
        <p:spPr>
          <a:xfrm>
            <a:off x="457200" y="4663440"/>
            <a:ext cx="3291840" cy="692497"/>
          </a:xfrm>
          <a:prstGeom prst="rect">
            <a:avLst/>
          </a:prstGeom>
          <a:noFill/>
        </p:spPr>
        <p:txBody>
          <a:bodyPr wrap="square">
            <a:spAutoFit/>
          </a:bodyPr>
          <a:lstStyle/>
          <a:p>
            <a:pPr algn="l"/>
            <a:r>
              <a:rPr sz="1300" b="0" dirty="0">
                <a:solidFill>
                  <a:srgbClr val="E0E0E0"/>
                </a:solidFill>
              </a:rPr>
              <a:t>• PostgreSQL 16</a:t>
            </a:r>
            <a:endParaRPr lang="de-CH" sz="1300" b="0" dirty="0">
              <a:solidFill>
                <a:srgbClr val="E0E0E0"/>
              </a:solidFill>
            </a:endParaRPr>
          </a:p>
          <a:p>
            <a:pPr algn="l"/>
            <a:endParaRPr lang="de-CH" sz="1300" dirty="0">
              <a:solidFill>
                <a:srgbClr val="E0E0E0"/>
              </a:solidFill>
            </a:endParaRPr>
          </a:p>
          <a:p>
            <a:pPr algn="l"/>
            <a:r>
              <a:rPr lang="de-CH" sz="1300" b="0" dirty="0">
                <a:solidFill>
                  <a:srgbClr val="E0E0E0"/>
                </a:solidFill>
              </a:rPr>
              <a:t>• Access </a:t>
            </a:r>
            <a:r>
              <a:rPr lang="de-CH" sz="1300" b="0" dirty="0" err="1">
                <a:solidFill>
                  <a:srgbClr val="E0E0E0"/>
                </a:solidFill>
              </a:rPr>
              <a:t>with</a:t>
            </a:r>
            <a:r>
              <a:rPr lang="de-CH" sz="1300" b="0" dirty="0">
                <a:solidFill>
                  <a:srgbClr val="E0E0E0"/>
                </a:solidFill>
              </a:rPr>
              <a:t> psycopg2-binary</a:t>
            </a:r>
          </a:p>
        </p:txBody>
      </p:sp>
      <p:sp>
        <p:nvSpPr>
          <p:cNvPr id="31" name="Rectangle 30"/>
          <p:cNvSpPr/>
          <p:nvPr/>
        </p:nvSpPr>
        <p:spPr>
          <a:xfrm>
            <a:off x="4206240" y="406908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Rectangle 31"/>
          <p:cNvSpPr/>
          <p:nvPr/>
        </p:nvSpPr>
        <p:spPr>
          <a:xfrm>
            <a:off x="4206240" y="4069080"/>
            <a:ext cx="365760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4343400" y="4197096"/>
            <a:ext cx="3383280" cy="365760"/>
          </a:xfrm>
          <a:prstGeom prst="rect">
            <a:avLst/>
          </a:prstGeom>
          <a:noFill/>
        </p:spPr>
        <p:txBody>
          <a:bodyPr wrap="square">
            <a:spAutoFit/>
          </a:bodyPr>
          <a:lstStyle/>
          <a:p>
            <a:pPr algn="l"/>
            <a:r>
              <a:rPr sz="1600" b="1">
                <a:solidFill>
                  <a:srgbClr val="FF4B4B"/>
                </a:solidFill>
              </a:rPr>
              <a:t>Dashboard</a:t>
            </a:r>
          </a:p>
        </p:txBody>
      </p:sp>
      <p:sp>
        <p:nvSpPr>
          <p:cNvPr id="34" name="TextBox 33"/>
          <p:cNvSpPr txBox="1"/>
          <p:nvPr/>
        </p:nvSpPr>
        <p:spPr>
          <a:xfrm>
            <a:off x="4389120" y="4663440"/>
            <a:ext cx="3291840" cy="484632"/>
          </a:xfrm>
          <a:prstGeom prst="rect">
            <a:avLst/>
          </a:prstGeom>
          <a:noFill/>
        </p:spPr>
        <p:txBody>
          <a:bodyPr wrap="square">
            <a:spAutoFit/>
          </a:bodyPr>
          <a:lstStyle/>
          <a:p>
            <a:pPr algn="l"/>
            <a:r>
              <a:rPr sz="1300" b="0">
                <a:solidFill>
                  <a:srgbClr val="E0E0E0"/>
                </a:solidFill>
              </a:rPr>
              <a:t>• Streamlit 1.35</a:t>
            </a:r>
          </a:p>
        </p:txBody>
      </p:sp>
      <p:sp>
        <p:nvSpPr>
          <p:cNvPr id="35" name="TextBox 34"/>
          <p:cNvSpPr txBox="1"/>
          <p:nvPr/>
        </p:nvSpPr>
        <p:spPr>
          <a:xfrm>
            <a:off x="4389120" y="5184648"/>
            <a:ext cx="3291840" cy="292388"/>
          </a:xfrm>
          <a:prstGeom prst="rect">
            <a:avLst/>
          </a:prstGeom>
          <a:noFill/>
        </p:spPr>
        <p:txBody>
          <a:bodyPr wrap="square">
            <a:spAutoFit/>
          </a:bodyPr>
          <a:lstStyle/>
          <a:p>
            <a:pPr algn="l"/>
            <a:r>
              <a:rPr sz="1300" b="0" dirty="0">
                <a:solidFill>
                  <a:srgbClr val="E0E0E0"/>
                </a:solidFill>
              </a:rPr>
              <a:t>• </a:t>
            </a:r>
            <a:r>
              <a:rPr sz="1300" b="0" dirty="0" err="1">
                <a:solidFill>
                  <a:srgbClr val="E0E0E0"/>
                </a:solidFill>
              </a:rPr>
              <a:t>Plotly</a:t>
            </a:r>
            <a:r>
              <a:rPr sz="1300" b="0" dirty="0">
                <a:solidFill>
                  <a:srgbClr val="E0E0E0"/>
                </a:solidFill>
              </a:rPr>
              <a:t> (</a:t>
            </a:r>
            <a:r>
              <a:rPr lang="de-CH" sz="1300" b="0" dirty="0" err="1">
                <a:solidFill>
                  <a:srgbClr val="E0E0E0"/>
                </a:solidFill>
              </a:rPr>
              <a:t>data</a:t>
            </a:r>
            <a:r>
              <a:rPr lang="de-CH" sz="1300" b="0" dirty="0">
                <a:solidFill>
                  <a:srgbClr val="E0E0E0"/>
                </a:solidFill>
              </a:rPr>
              <a:t> </a:t>
            </a:r>
            <a:r>
              <a:rPr lang="de-CH" sz="1300" b="0" dirty="0" err="1">
                <a:solidFill>
                  <a:srgbClr val="E0E0E0"/>
                </a:solidFill>
              </a:rPr>
              <a:t>visualization</a:t>
            </a:r>
            <a:r>
              <a:rPr lang="de-CH" sz="1300" b="0" dirty="0">
                <a:solidFill>
                  <a:srgbClr val="E0E0E0"/>
                </a:solidFill>
              </a:rPr>
              <a:t> in</a:t>
            </a:r>
            <a:r>
              <a:rPr sz="1300" b="0" dirty="0">
                <a:solidFill>
                  <a:srgbClr val="E0E0E0"/>
                </a:solidFill>
              </a:rPr>
              <a:t> maps)</a:t>
            </a:r>
          </a:p>
        </p:txBody>
      </p:sp>
      <p:sp>
        <p:nvSpPr>
          <p:cNvPr id="36" name="TextBox 35"/>
          <p:cNvSpPr txBox="1"/>
          <p:nvPr/>
        </p:nvSpPr>
        <p:spPr>
          <a:xfrm>
            <a:off x="4389120" y="5705856"/>
            <a:ext cx="3291840" cy="292388"/>
          </a:xfrm>
          <a:prstGeom prst="rect">
            <a:avLst/>
          </a:prstGeom>
          <a:noFill/>
        </p:spPr>
        <p:txBody>
          <a:bodyPr wrap="square">
            <a:spAutoFit/>
          </a:bodyPr>
          <a:lstStyle/>
          <a:p>
            <a:pPr algn="l"/>
            <a:r>
              <a:rPr sz="1300" b="0" dirty="0">
                <a:solidFill>
                  <a:srgbClr val="E0E0E0"/>
                </a:solidFill>
              </a:rPr>
              <a:t>• pandas</a:t>
            </a:r>
          </a:p>
        </p:txBody>
      </p:sp>
      <p:sp>
        <p:nvSpPr>
          <p:cNvPr id="37" name="Rectangle 36"/>
          <p:cNvSpPr/>
          <p:nvPr/>
        </p:nvSpPr>
        <p:spPr>
          <a:xfrm>
            <a:off x="8138160" y="4069080"/>
            <a:ext cx="365760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Rectangle 37"/>
          <p:cNvSpPr/>
          <p:nvPr/>
        </p:nvSpPr>
        <p:spPr>
          <a:xfrm>
            <a:off x="8138160" y="4069080"/>
            <a:ext cx="3657600" cy="73152"/>
          </a:xfrm>
          <a:prstGeom prst="rect">
            <a:avLst/>
          </a:prstGeom>
          <a:solidFill>
            <a:srgbClr val="9C27B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8275320" y="4197096"/>
            <a:ext cx="3383280" cy="365760"/>
          </a:xfrm>
          <a:prstGeom prst="rect">
            <a:avLst/>
          </a:prstGeom>
          <a:noFill/>
        </p:spPr>
        <p:txBody>
          <a:bodyPr wrap="square">
            <a:spAutoFit/>
          </a:bodyPr>
          <a:lstStyle/>
          <a:p>
            <a:pPr algn="l"/>
            <a:r>
              <a:rPr sz="1600" b="1">
                <a:solidFill>
                  <a:srgbClr val="9C27B0"/>
                </a:solidFill>
              </a:rPr>
              <a:t>Infrastructure</a:t>
            </a:r>
          </a:p>
        </p:txBody>
      </p:sp>
      <p:sp>
        <p:nvSpPr>
          <p:cNvPr id="40" name="TextBox 39"/>
          <p:cNvSpPr txBox="1"/>
          <p:nvPr/>
        </p:nvSpPr>
        <p:spPr>
          <a:xfrm>
            <a:off x="8321040" y="4663440"/>
            <a:ext cx="3291840" cy="484632"/>
          </a:xfrm>
          <a:prstGeom prst="rect">
            <a:avLst/>
          </a:prstGeom>
          <a:noFill/>
        </p:spPr>
        <p:txBody>
          <a:bodyPr wrap="square">
            <a:spAutoFit/>
          </a:bodyPr>
          <a:lstStyle/>
          <a:p>
            <a:pPr algn="l"/>
            <a:r>
              <a:rPr sz="1300" b="0">
                <a:solidFill>
                  <a:srgbClr val="E0E0E0"/>
                </a:solidFill>
              </a:rPr>
              <a:t>• Docker &amp; Docker Compose</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118872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0" y="1188720"/>
            <a:ext cx="12188952" cy="54864"/>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65760" y="137160"/>
            <a:ext cx="11430000" cy="731520"/>
          </a:xfrm>
          <a:prstGeom prst="rect">
            <a:avLst/>
          </a:prstGeom>
          <a:noFill/>
        </p:spPr>
        <p:txBody>
          <a:bodyPr wrap="square">
            <a:spAutoFit/>
          </a:bodyPr>
          <a:lstStyle/>
          <a:p>
            <a:pPr algn="l"/>
            <a:r>
              <a:rPr sz="3200" b="1" dirty="0" err="1">
                <a:solidFill>
                  <a:srgbClr val="FFFFFF"/>
                </a:solidFill>
              </a:rPr>
              <a:t>Streamlit</a:t>
            </a:r>
            <a:r>
              <a:rPr sz="3200" b="1" dirty="0">
                <a:solidFill>
                  <a:srgbClr val="FFFFFF"/>
                </a:solidFill>
              </a:rPr>
              <a:t> Dashboard</a:t>
            </a:r>
          </a:p>
        </p:txBody>
      </p:sp>
      <p:sp>
        <p:nvSpPr>
          <p:cNvPr id="6" name="TextBox 5"/>
          <p:cNvSpPr txBox="1"/>
          <p:nvPr/>
        </p:nvSpPr>
        <p:spPr>
          <a:xfrm>
            <a:off x="365760" y="777240"/>
            <a:ext cx="11430000" cy="338554"/>
          </a:xfrm>
          <a:prstGeom prst="rect">
            <a:avLst/>
          </a:prstGeom>
          <a:noFill/>
        </p:spPr>
        <p:txBody>
          <a:bodyPr wrap="square">
            <a:spAutoFit/>
          </a:bodyPr>
          <a:lstStyle/>
          <a:p>
            <a:pPr algn="l"/>
            <a:r>
              <a:rPr sz="1600" b="0" dirty="0">
                <a:solidFill>
                  <a:srgbClr val="E0E0E0"/>
                </a:solidFill>
              </a:rPr>
              <a:t>4 interactive tabs</a:t>
            </a:r>
          </a:p>
        </p:txBody>
      </p:sp>
      <p:sp>
        <p:nvSpPr>
          <p:cNvPr id="7" name="Rectangle 6"/>
          <p:cNvSpPr/>
          <p:nvPr/>
        </p:nvSpPr>
        <p:spPr>
          <a:xfrm>
            <a:off x="274320" y="1508760"/>
            <a:ext cx="557784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274320" y="1508760"/>
            <a:ext cx="5577840" cy="73152"/>
          </a:xfrm>
          <a:prstGeom prst="rect">
            <a:avLst/>
          </a:prstGeom>
          <a:solidFill>
            <a:srgbClr val="FF4B4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411480" y="1636776"/>
            <a:ext cx="914400" cy="320040"/>
          </a:xfrm>
          <a:prstGeom prst="rect">
            <a:avLst/>
          </a:prstGeom>
          <a:noFill/>
        </p:spPr>
        <p:txBody>
          <a:bodyPr wrap="square">
            <a:spAutoFit/>
          </a:bodyPr>
          <a:lstStyle/>
          <a:p>
            <a:pPr algn="l"/>
            <a:r>
              <a:rPr sz="1200" b="1">
                <a:solidFill>
                  <a:srgbClr val="888888"/>
                </a:solidFill>
              </a:rPr>
              <a:t>Tab 1</a:t>
            </a:r>
          </a:p>
        </p:txBody>
      </p:sp>
      <p:sp>
        <p:nvSpPr>
          <p:cNvPr id="10" name="TextBox 9"/>
          <p:cNvSpPr txBox="1"/>
          <p:nvPr/>
        </p:nvSpPr>
        <p:spPr>
          <a:xfrm>
            <a:off x="411480" y="1911096"/>
            <a:ext cx="5303520" cy="365760"/>
          </a:xfrm>
          <a:prstGeom prst="rect">
            <a:avLst/>
          </a:prstGeom>
          <a:noFill/>
        </p:spPr>
        <p:txBody>
          <a:bodyPr wrap="square">
            <a:spAutoFit/>
          </a:bodyPr>
          <a:lstStyle/>
          <a:p>
            <a:pPr algn="l"/>
            <a:r>
              <a:rPr sz="1700" b="1">
                <a:solidFill>
                  <a:srgbClr val="FF4B4B"/>
                </a:solidFill>
              </a:rPr>
              <a:t>Last 24 h — Top 10</a:t>
            </a:r>
          </a:p>
        </p:txBody>
      </p:sp>
      <p:sp>
        <p:nvSpPr>
          <p:cNvPr id="11" name="TextBox 10"/>
          <p:cNvSpPr txBox="1"/>
          <p:nvPr/>
        </p:nvSpPr>
        <p:spPr>
          <a:xfrm>
            <a:off x="457200" y="2377440"/>
            <a:ext cx="5212080" cy="307777"/>
          </a:xfrm>
          <a:prstGeom prst="rect">
            <a:avLst/>
          </a:prstGeom>
          <a:noFill/>
        </p:spPr>
        <p:txBody>
          <a:bodyPr wrap="square">
            <a:spAutoFit/>
          </a:bodyPr>
          <a:lstStyle/>
          <a:p>
            <a:pPr algn="l"/>
            <a:r>
              <a:rPr sz="1300" b="0" dirty="0">
                <a:solidFill>
                  <a:srgbClr val="E0E0E0"/>
                </a:solidFill>
              </a:rPr>
              <a:t>• </a:t>
            </a:r>
            <a:r>
              <a:rPr lang="en-US" sz="1400" b="0" i="0" dirty="0">
                <a:solidFill>
                  <a:srgbClr val="BFBFBF"/>
                </a:solidFill>
                <a:effectLst/>
                <a:latin typeface="-apple-system"/>
              </a:rPr>
              <a:t>Shows the </a:t>
            </a:r>
            <a:r>
              <a:rPr lang="en-US" sz="1400" b="1" i="0" dirty="0">
                <a:solidFill>
                  <a:srgbClr val="BFBFBF"/>
                </a:solidFill>
                <a:effectLst/>
                <a:latin typeface="-apple-system"/>
              </a:rPr>
              <a:t>10 strongest earthquakes from the last 24 hours</a:t>
            </a:r>
            <a:r>
              <a:rPr lang="en-US" sz="1400" b="0" i="0" dirty="0">
                <a:solidFill>
                  <a:srgbClr val="BFBFBF"/>
                </a:solidFill>
                <a:effectLst/>
                <a:latin typeface="-apple-system"/>
              </a:rPr>
              <a:t>.</a:t>
            </a:r>
            <a:endParaRPr sz="1300" b="0" dirty="0">
              <a:solidFill>
                <a:srgbClr val="E0E0E0"/>
              </a:solidFill>
            </a:endParaRPr>
          </a:p>
        </p:txBody>
      </p:sp>
      <p:sp>
        <p:nvSpPr>
          <p:cNvPr id="14" name="Rectangle 13"/>
          <p:cNvSpPr/>
          <p:nvPr/>
        </p:nvSpPr>
        <p:spPr>
          <a:xfrm>
            <a:off x="6126480" y="1508760"/>
            <a:ext cx="557784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6126480" y="1508760"/>
            <a:ext cx="5577840" cy="73152"/>
          </a:xfrm>
          <a:prstGeom prst="rect">
            <a:avLst/>
          </a:prstGeom>
          <a:solidFill>
            <a:srgbClr val="FF98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6263640" y="1636776"/>
            <a:ext cx="914400" cy="320040"/>
          </a:xfrm>
          <a:prstGeom prst="rect">
            <a:avLst/>
          </a:prstGeom>
          <a:noFill/>
        </p:spPr>
        <p:txBody>
          <a:bodyPr wrap="square">
            <a:spAutoFit/>
          </a:bodyPr>
          <a:lstStyle/>
          <a:p>
            <a:pPr algn="l"/>
            <a:r>
              <a:rPr sz="1200" b="1">
                <a:solidFill>
                  <a:srgbClr val="888888"/>
                </a:solidFill>
              </a:rPr>
              <a:t>Tab 2</a:t>
            </a:r>
          </a:p>
        </p:txBody>
      </p:sp>
      <p:sp>
        <p:nvSpPr>
          <p:cNvPr id="17" name="TextBox 16"/>
          <p:cNvSpPr txBox="1"/>
          <p:nvPr/>
        </p:nvSpPr>
        <p:spPr>
          <a:xfrm>
            <a:off x="6263640" y="1911096"/>
            <a:ext cx="5303520" cy="365760"/>
          </a:xfrm>
          <a:prstGeom prst="rect">
            <a:avLst/>
          </a:prstGeom>
          <a:noFill/>
        </p:spPr>
        <p:txBody>
          <a:bodyPr wrap="square">
            <a:spAutoFit/>
          </a:bodyPr>
          <a:lstStyle/>
          <a:p>
            <a:pPr algn="l"/>
            <a:r>
              <a:rPr sz="1700" b="1">
                <a:solidFill>
                  <a:srgbClr val="FF9800"/>
                </a:solidFill>
              </a:rPr>
              <a:t>All Earthquakes</a:t>
            </a:r>
          </a:p>
        </p:txBody>
      </p:sp>
      <p:sp>
        <p:nvSpPr>
          <p:cNvPr id="18" name="TextBox 17"/>
          <p:cNvSpPr txBox="1"/>
          <p:nvPr/>
        </p:nvSpPr>
        <p:spPr>
          <a:xfrm>
            <a:off x="6309360" y="2377440"/>
            <a:ext cx="5212080" cy="307777"/>
          </a:xfrm>
          <a:prstGeom prst="rect">
            <a:avLst/>
          </a:prstGeom>
          <a:noFill/>
        </p:spPr>
        <p:txBody>
          <a:bodyPr wrap="square">
            <a:spAutoFit/>
          </a:bodyPr>
          <a:lstStyle/>
          <a:p>
            <a:pPr algn="l"/>
            <a:r>
              <a:rPr sz="1300" b="0" dirty="0">
                <a:solidFill>
                  <a:srgbClr val="E0E0E0"/>
                </a:solidFill>
              </a:rPr>
              <a:t>• </a:t>
            </a:r>
            <a:r>
              <a:rPr lang="en-US" sz="1400" b="0" i="0" dirty="0">
                <a:solidFill>
                  <a:srgbClr val="BFBFBF"/>
                </a:solidFill>
                <a:effectLst/>
                <a:latin typeface="-apple-system"/>
              </a:rPr>
              <a:t>Shows </a:t>
            </a:r>
            <a:r>
              <a:rPr lang="en-US" sz="1400" b="1" i="0" dirty="0">
                <a:solidFill>
                  <a:srgbClr val="BFBFBF"/>
                </a:solidFill>
                <a:effectLst/>
                <a:latin typeface="-apple-system"/>
              </a:rPr>
              <a:t>every earthquake event</a:t>
            </a:r>
            <a:r>
              <a:rPr lang="en-US" sz="1400" i="0" dirty="0">
                <a:solidFill>
                  <a:srgbClr val="BFBFBF"/>
                </a:solidFill>
                <a:effectLst/>
                <a:latin typeface="-apple-system"/>
              </a:rPr>
              <a:t> </a:t>
            </a:r>
            <a:r>
              <a:rPr lang="en-US" sz="1400" b="0" i="0" dirty="0">
                <a:solidFill>
                  <a:srgbClr val="BFBFBF"/>
                </a:solidFill>
                <a:effectLst/>
                <a:latin typeface="-apple-system"/>
              </a:rPr>
              <a:t>with interactive filters</a:t>
            </a:r>
            <a:endParaRPr sz="1300" b="0" dirty="0">
              <a:solidFill>
                <a:srgbClr val="E0E0E0"/>
              </a:solidFill>
            </a:endParaRPr>
          </a:p>
        </p:txBody>
      </p:sp>
      <p:sp>
        <p:nvSpPr>
          <p:cNvPr id="21" name="Rectangle 20"/>
          <p:cNvSpPr/>
          <p:nvPr/>
        </p:nvSpPr>
        <p:spPr>
          <a:xfrm>
            <a:off x="274320" y="4114800"/>
            <a:ext cx="557784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274320" y="4114800"/>
            <a:ext cx="5577840" cy="73152"/>
          </a:xfrm>
          <a:prstGeom prst="rect">
            <a:avLst/>
          </a:prstGeom>
          <a:solidFill>
            <a:srgbClr val="4CAF5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11480" y="4242816"/>
            <a:ext cx="914400" cy="320040"/>
          </a:xfrm>
          <a:prstGeom prst="rect">
            <a:avLst/>
          </a:prstGeom>
          <a:noFill/>
        </p:spPr>
        <p:txBody>
          <a:bodyPr wrap="square">
            <a:spAutoFit/>
          </a:bodyPr>
          <a:lstStyle/>
          <a:p>
            <a:pPr algn="l"/>
            <a:r>
              <a:rPr sz="1200" b="1">
                <a:solidFill>
                  <a:srgbClr val="888888"/>
                </a:solidFill>
              </a:rPr>
              <a:t>Tab 3</a:t>
            </a:r>
          </a:p>
        </p:txBody>
      </p:sp>
      <p:sp>
        <p:nvSpPr>
          <p:cNvPr id="24" name="TextBox 23"/>
          <p:cNvSpPr txBox="1"/>
          <p:nvPr/>
        </p:nvSpPr>
        <p:spPr>
          <a:xfrm>
            <a:off x="411480" y="4517136"/>
            <a:ext cx="5303520" cy="365760"/>
          </a:xfrm>
          <a:prstGeom prst="rect">
            <a:avLst/>
          </a:prstGeom>
          <a:noFill/>
        </p:spPr>
        <p:txBody>
          <a:bodyPr wrap="square">
            <a:spAutoFit/>
          </a:bodyPr>
          <a:lstStyle/>
          <a:p>
            <a:pPr algn="l"/>
            <a:r>
              <a:rPr sz="1700" b="1">
                <a:solidFill>
                  <a:srgbClr val="4CAF50"/>
                </a:solidFill>
              </a:rPr>
              <a:t>Country Overview</a:t>
            </a:r>
          </a:p>
        </p:txBody>
      </p:sp>
      <p:sp>
        <p:nvSpPr>
          <p:cNvPr id="25" name="TextBox 24"/>
          <p:cNvSpPr txBox="1"/>
          <p:nvPr/>
        </p:nvSpPr>
        <p:spPr>
          <a:xfrm>
            <a:off x="457200" y="4983480"/>
            <a:ext cx="5212080" cy="307777"/>
          </a:xfrm>
          <a:prstGeom prst="rect">
            <a:avLst/>
          </a:prstGeom>
          <a:noFill/>
        </p:spPr>
        <p:txBody>
          <a:bodyPr wrap="square">
            <a:spAutoFit/>
          </a:bodyPr>
          <a:lstStyle/>
          <a:p>
            <a:pPr algn="l"/>
            <a:r>
              <a:rPr sz="1300" b="0" dirty="0">
                <a:solidFill>
                  <a:srgbClr val="E0E0E0"/>
                </a:solidFill>
              </a:rPr>
              <a:t>• </a:t>
            </a:r>
            <a:r>
              <a:rPr lang="de-CH" sz="1300" b="0" dirty="0">
                <a:solidFill>
                  <a:srgbClr val="E0E0E0"/>
                </a:solidFill>
              </a:rPr>
              <a:t>Shows </a:t>
            </a:r>
            <a:r>
              <a:rPr lang="de-CH" sz="1400" b="1" i="0" dirty="0" err="1">
                <a:solidFill>
                  <a:srgbClr val="BFBFBF"/>
                </a:solidFill>
                <a:effectLst/>
                <a:latin typeface="-apple-system"/>
              </a:rPr>
              <a:t>statistics</a:t>
            </a:r>
            <a:r>
              <a:rPr lang="de-CH" sz="1400" b="0" i="0" dirty="0">
                <a:solidFill>
                  <a:srgbClr val="BFBFBF"/>
                </a:solidFill>
                <a:effectLst/>
                <a:latin typeface="-apple-system"/>
              </a:rPr>
              <a:t> </a:t>
            </a:r>
            <a:r>
              <a:rPr lang="de-CH" sz="1400" b="1" i="0" dirty="0">
                <a:solidFill>
                  <a:srgbClr val="BFBFBF"/>
                </a:solidFill>
                <a:effectLst/>
                <a:latin typeface="-apple-system"/>
              </a:rPr>
              <a:t>per-country</a:t>
            </a:r>
            <a:endParaRPr sz="1300" b="0" dirty="0">
              <a:solidFill>
                <a:srgbClr val="E0E0E0"/>
              </a:solidFill>
            </a:endParaRPr>
          </a:p>
        </p:txBody>
      </p:sp>
      <p:sp>
        <p:nvSpPr>
          <p:cNvPr id="28" name="Rectangle 27"/>
          <p:cNvSpPr/>
          <p:nvPr/>
        </p:nvSpPr>
        <p:spPr>
          <a:xfrm>
            <a:off x="6126480" y="4114800"/>
            <a:ext cx="5577840" cy="242316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Rectangle 28"/>
          <p:cNvSpPr/>
          <p:nvPr/>
        </p:nvSpPr>
        <p:spPr>
          <a:xfrm>
            <a:off x="6126480" y="4114800"/>
            <a:ext cx="5577840" cy="73152"/>
          </a:xfrm>
          <a:prstGeom prst="rect">
            <a:avLst/>
          </a:prstGeom>
          <a:solidFill>
            <a:srgbClr val="2196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Box 29"/>
          <p:cNvSpPr txBox="1"/>
          <p:nvPr/>
        </p:nvSpPr>
        <p:spPr>
          <a:xfrm>
            <a:off x="6263640" y="4242816"/>
            <a:ext cx="914400" cy="320040"/>
          </a:xfrm>
          <a:prstGeom prst="rect">
            <a:avLst/>
          </a:prstGeom>
          <a:noFill/>
        </p:spPr>
        <p:txBody>
          <a:bodyPr wrap="square">
            <a:spAutoFit/>
          </a:bodyPr>
          <a:lstStyle/>
          <a:p>
            <a:pPr algn="l"/>
            <a:r>
              <a:rPr sz="1200" b="1">
                <a:solidFill>
                  <a:srgbClr val="888888"/>
                </a:solidFill>
              </a:rPr>
              <a:t>Tab 4</a:t>
            </a:r>
          </a:p>
        </p:txBody>
      </p:sp>
      <p:sp>
        <p:nvSpPr>
          <p:cNvPr id="31" name="TextBox 30"/>
          <p:cNvSpPr txBox="1"/>
          <p:nvPr/>
        </p:nvSpPr>
        <p:spPr>
          <a:xfrm>
            <a:off x="6263640" y="4517136"/>
            <a:ext cx="5303520" cy="365760"/>
          </a:xfrm>
          <a:prstGeom prst="rect">
            <a:avLst/>
          </a:prstGeom>
          <a:noFill/>
        </p:spPr>
        <p:txBody>
          <a:bodyPr wrap="square">
            <a:spAutoFit/>
          </a:bodyPr>
          <a:lstStyle/>
          <a:p>
            <a:pPr algn="l"/>
            <a:r>
              <a:rPr sz="1700" b="1">
                <a:solidFill>
                  <a:srgbClr val="2196F3"/>
                </a:solidFill>
              </a:rPr>
              <a:t>Historically Strongest</a:t>
            </a:r>
          </a:p>
        </p:txBody>
      </p:sp>
      <p:sp>
        <p:nvSpPr>
          <p:cNvPr id="32" name="TextBox 31"/>
          <p:cNvSpPr txBox="1"/>
          <p:nvPr/>
        </p:nvSpPr>
        <p:spPr>
          <a:xfrm>
            <a:off x="6309360" y="4983480"/>
            <a:ext cx="5212080" cy="523220"/>
          </a:xfrm>
          <a:prstGeom prst="rect">
            <a:avLst/>
          </a:prstGeom>
          <a:noFill/>
        </p:spPr>
        <p:txBody>
          <a:bodyPr wrap="square">
            <a:spAutoFit/>
          </a:bodyPr>
          <a:lstStyle/>
          <a:p>
            <a:pPr algn="l"/>
            <a:r>
              <a:rPr sz="1300" b="0" dirty="0">
                <a:solidFill>
                  <a:srgbClr val="E0E0E0"/>
                </a:solidFill>
              </a:rPr>
              <a:t>• </a:t>
            </a:r>
            <a:r>
              <a:rPr lang="en-US" sz="1400" b="0" i="0" dirty="0">
                <a:solidFill>
                  <a:srgbClr val="BFBFBF"/>
                </a:solidFill>
                <a:effectLst/>
                <a:latin typeface="-apple-system"/>
              </a:rPr>
              <a:t>Shows events where the </a:t>
            </a:r>
            <a:r>
              <a:rPr lang="en-US" sz="1400" b="1" i="0" dirty="0">
                <a:solidFill>
                  <a:srgbClr val="BFBFBF"/>
                </a:solidFill>
                <a:effectLst/>
                <a:latin typeface="-apple-system"/>
              </a:rPr>
              <a:t>surrounding region has the strongest historical earthquake record</a:t>
            </a:r>
            <a:r>
              <a:rPr lang="en-US" sz="1400" b="0" i="0" dirty="0">
                <a:solidFill>
                  <a:srgbClr val="BFBFBF"/>
                </a:solidFill>
                <a:effectLst/>
                <a:latin typeface="-apple-system"/>
              </a:rPr>
              <a:t> (magnitude &gt; 4.0)</a:t>
            </a:r>
            <a:endParaRPr sz="1300" b="0" dirty="0">
              <a:solidFill>
                <a:srgbClr val="E0E0E0"/>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56432" y="1993392"/>
            <a:ext cx="5272789" cy="584775"/>
          </a:xfrm>
          <a:prstGeom prst="rect">
            <a:avLst/>
          </a:prstGeom>
          <a:noFill/>
        </p:spPr>
        <p:txBody>
          <a:bodyPr wrap="square">
            <a:spAutoFit/>
          </a:bodyPr>
          <a:lstStyle/>
          <a:p>
            <a:pPr algn="ctr"/>
            <a:r>
              <a:rPr lang="de-CH" sz="3200" b="1" dirty="0">
                <a:solidFill>
                  <a:srgbClr val="FFFFFF"/>
                </a:solidFill>
              </a:rPr>
              <a:t> Next </a:t>
            </a:r>
            <a:r>
              <a:rPr lang="de-CH" sz="3200" b="1" dirty="0" err="1">
                <a:solidFill>
                  <a:srgbClr val="FFFFFF"/>
                </a:solidFill>
              </a:rPr>
              <a:t>Steps</a:t>
            </a:r>
            <a:r>
              <a:rPr lang="de-CH" sz="3200" b="1" dirty="0">
                <a:solidFill>
                  <a:srgbClr val="FFFFFF"/>
                </a:solidFill>
              </a:rPr>
              <a:t>?</a:t>
            </a:r>
            <a:endParaRPr sz="3200" b="1" dirty="0">
              <a:solidFill>
                <a:srgbClr val="FFFFFF"/>
              </a:solidFill>
            </a:endParaRPr>
          </a:p>
        </p:txBody>
      </p:sp>
      <p:sp>
        <p:nvSpPr>
          <p:cNvPr id="6" name="TextBox 5"/>
          <p:cNvSpPr txBox="1"/>
          <p:nvPr/>
        </p:nvSpPr>
        <p:spPr>
          <a:xfrm>
            <a:off x="377826" y="3259723"/>
            <a:ext cx="11430000" cy="584775"/>
          </a:xfrm>
          <a:prstGeom prst="rect">
            <a:avLst/>
          </a:prstGeom>
          <a:noFill/>
        </p:spPr>
        <p:txBody>
          <a:bodyPr wrap="square">
            <a:spAutoFit/>
          </a:bodyPr>
          <a:lstStyle/>
          <a:p>
            <a:pPr algn="ctr"/>
            <a:r>
              <a:rPr lang="de-CH" sz="1600" b="0" dirty="0">
                <a:solidFill>
                  <a:srgbClr val="E0E0E0"/>
                </a:solidFill>
              </a:rPr>
              <a:t>• </a:t>
            </a:r>
            <a:r>
              <a:rPr lang="de-CH" sz="1600" dirty="0">
                <a:solidFill>
                  <a:srgbClr val="BFBFBF"/>
                </a:solidFill>
                <a:latin typeface="-apple-system"/>
              </a:rPr>
              <a:t>CI/CD </a:t>
            </a:r>
            <a:r>
              <a:rPr lang="de-CH" sz="1600" dirty="0" err="1">
                <a:solidFill>
                  <a:srgbClr val="BFBFBF"/>
                </a:solidFill>
                <a:latin typeface="-apple-system"/>
              </a:rPr>
              <a:t>for</a:t>
            </a:r>
            <a:r>
              <a:rPr lang="de-CH" sz="1600" dirty="0">
                <a:solidFill>
                  <a:srgbClr val="BFBFBF"/>
                </a:solidFill>
                <a:latin typeface="-apple-system"/>
              </a:rPr>
              <a:t> </a:t>
            </a:r>
            <a:r>
              <a:rPr lang="de-CH" sz="1600" dirty="0" err="1">
                <a:solidFill>
                  <a:srgbClr val="BFBFBF"/>
                </a:solidFill>
                <a:latin typeface="-apple-system"/>
              </a:rPr>
              <a:t>the</a:t>
            </a:r>
            <a:r>
              <a:rPr lang="de-CH" sz="1600" dirty="0">
                <a:solidFill>
                  <a:srgbClr val="BFBFBF"/>
                </a:solidFill>
                <a:latin typeface="-apple-system"/>
              </a:rPr>
              <a:t> Cloud</a:t>
            </a:r>
          </a:p>
          <a:p>
            <a:pPr algn="ctr"/>
            <a:r>
              <a:rPr lang="de-CH" sz="1600" b="0" dirty="0">
                <a:solidFill>
                  <a:srgbClr val="E0E0E0"/>
                </a:solidFill>
              </a:rPr>
              <a:t>• </a:t>
            </a:r>
            <a:r>
              <a:rPr lang="de-CH" sz="1600" dirty="0">
                <a:solidFill>
                  <a:srgbClr val="BFBFBF"/>
                </a:solidFill>
                <a:latin typeface="-apple-system"/>
              </a:rPr>
              <a:t>Time-</a:t>
            </a:r>
            <a:r>
              <a:rPr lang="de-CH" sz="1600" dirty="0" err="1">
                <a:solidFill>
                  <a:srgbClr val="BFBFBF"/>
                </a:solidFill>
                <a:latin typeface="-apple-system"/>
              </a:rPr>
              <a:t>consuming</a:t>
            </a:r>
            <a:r>
              <a:rPr lang="de-CH" sz="1600" dirty="0">
                <a:solidFill>
                  <a:srgbClr val="BFBFBF"/>
                </a:solidFill>
                <a:latin typeface="-apple-system"/>
              </a:rPr>
              <a:t> </a:t>
            </a:r>
            <a:r>
              <a:rPr lang="de-CH" sz="1600" dirty="0" err="1">
                <a:solidFill>
                  <a:srgbClr val="BFBFBF"/>
                </a:solidFill>
                <a:latin typeface="-apple-system"/>
              </a:rPr>
              <a:t>generation</a:t>
            </a:r>
            <a:r>
              <a:rPr lang="de-CH" sz="1600" dirty="0">
                <a:solidFill>
                  <a:srgbClr val="BFBFBF"/>
                </a:solidFill>
                <a:latin typeface="-apple-system"/>
              </a:rPr>
              <a:t> </a:t>
            </a:r>
            <a:r>
              <a:rPr lang="de-CH" sz="1600" dirty="0" err="1">
                <a:solidFill>
                  <a:srgbClr val="BFBFBF"/>
                </a:solidFill>
                <a:latin typeface="-apple-system"/>
              </a:rPr>
              <a:t>of</a:t>
            </a:r>
            <a:r>
              <a:rPr lang="de-CH" sz="1600" dirty="0">
                <a:solidFill>
                  <a:srgbClr val="BFBFBF"/>
                </a:solidFill>
                <a:latin typeface="-apple-system"/>
              </a:rPr>
              <a:t> </a:t>
            </a:r>
            <a:r>
              <a:rPr lang="de-CH" sz="1600" dirty="0" err="1">
                <a:solidFill>
                  <a:srgbClr val="BFBFBF"/>
                </a:solidFill>
                <a:latin typeface="-apple-system"/>
              </a:rPr>
              <a:t>reports</a:t>
            </a:r>
            <a:r>
              <a:rPr lang="de-CH" sz="1600" dirty="0">
                <a:solidFill>
                  <a:srgbClr val="BFBFBF"/>
                </a:solidFill>
                <a:latin typeface="-apple-system"/>
              </a:rPr>
              <a:t> via </a:t>
            </a:r>
            <a:r>
              <a:rPr lang="de-CH" sz="1600" dirty="0" err="1">
                <a:solidFill>
                  <a:srgbClr val="BFBFBF"/>
                </a:solidFill>
                <a:latin typeface="-apple-system"/>
              </a:rPr>
              <a:t>jobs</a:t>
            </a:r>
            <a:endParaRPr sz="1600" b="0" dirty="0">
              <a:solidFill>
                <a:srgbClr val="E0E0E0"/>
              </a:solidFill>
            </a:endParaRPr>
          </a:p>
        </p:txBody>
      </p:sp>
    </p:spTree>
    <p:extLst>
      <p:ext uri="{BB962C8B-B14F-4D97-AF65-F5344CB8AC3E}">
        <p14:creationId xmlns:p14="http://schemas.microsoft.com/office/powerpoint/2010/main" val="316561024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88952" cy="6858000"/>
          </a:xfrm>
          <a:prstGeom prst="rect">
            <a:avLst/>
          </a:prstGeom>
          <a:solidFill>
            <a:srgbClr val="0E111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88952" cy="6858000"/>
          </a:xfrm>
          <a:prstGeom prst="rect">
            <a:avLst/>
          </a:prstGeom>
          <a:solidFill>
            <a:srgbClr val="1621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3456432" y="2002536"/>
            <a:ext cx="5272789" cy="584775"/>
          </a:xfrm>
          <a:prstGeom prst="rect">
            <a:avLst/>
          </a:prstGeom>
          <a:noFill/>
        </p:spPr>
        <p:txBody>
          <a:bodyPr wrap="square">
            <a:spAutoFit/>
          </a:bodyPr>
          <a:lstStyle/>
          <a:p>
            <a:pPr algn="l"/>
            <a:r>
              <a:rPr lang="de-CH" sz="3200" b="1" dirty="0">
                <a:solidFill>
                  <a:srgbClr val="FFFFFF"/>
                </a:solidFill>
              </a:rPr>
              <a:t> </a:t>
            </a:r>
            <a:r>
              <a:rPr lang="de-CH" sz="3200" b="1" dirty="0" err="1">
                <a:solidFill>
                  <a:srgbClr val="FFFFFF"/>
                </a:solidFill>
              </a:rPr>
              <a:t>Thank</a:t>
            </a:r>
            <a:r>
              <a:rPr lang="de-CH" sz="3200" b="1" dirty="0">
                <a:solidFill>
                  <a:srgbClr val="FFFFFF"/>
                </a:solidFill>
              </a:rPr>
              <a:t> </a:t>
            </a:r>
            <a:r>
              <a:rPr lang="de-CH" sz="3200" b="1" dirty="0" err="1">
                <a:solidFill>
                  <a:srgbClr val="FFFFFF"/>
                </a:solidFill>
              </a:rPr>
              <a:t>you</a:t>
            </a:r>
            <a:r>
              <a:rPr lang="de-CH" sz="3200" b="1" dirty="0">
                <a:solidFill>
                  <a:srgbClr val="FFFFFF"/>
                </a:solidFill>
              </a:rPr>
              <a:t> </a:t>
            </a:r>
            <a:r>
              <a:rPr lang="de-CH" sz="3200" b="1" dirty="0" err="1">
                <a:solidFill>
                  <a:srgbClr val="FFFFFF"/>
                </a:solidFill>
              </a:rPr>
              <a:t>for</a:t>
            </a:r>
            <a:r>
              <a:rPr lang="de-CH" sz="3200" b="1" dirty="0">
                <a:solidFill>
                  <a:srgbClr val="FFFFFF"/>
                </a:solidFill>
              </a:rPr>
              <a:t> </a:t>
            </a:r>
            <a:r>
              <a:rPr lang="de-CH" sz="3200" b="1" dirty="0" err="1">
                <a:solidFill>
                  <a:srgbClr val="FFFFFF"/>
                </a:solidFill>
              </a:rPr>
              <a:t>your</a:t>
            </a:r>
            <a:r>
              <a:rPr lang="de-CH" sz="3200" b="1" dirty="0">
                <a:solidFill>
                  <a:srgbClr val="FFFFFF"/>
                </a:solidFill>
              </a:rPr>
              <a:t> </a:t>
            </a:r>
            <a:r>
              <a:rPr lang="de-CH" sz="3200" b="1" dirty="0" err="1">
                <a:solidFill>
                  <a:srgbClr val="FFFFFF"/>
                </a:solidFill>
              </a:rPr>
              <a:t>attention</a:t>
            </a:r>
            <a:endParaRPr sz="3200" b="1" dirty="0">
              <a:solidFill>
                <a:srgbClr val="FFFFFF"/>
              </a:solidFill>
            </a:endParaRPr>
          </a:p>
        </p:txBody>
      </p:sp>
      <p:sp>
        <p:nvSpPr>
          <p:cNvPr id="6" name="TextBox 5"/>
          <p:cNvSpPr txBox="1"/>
          <p:nvPr/>
        </p:nvSpPr>
        <p:spPr>
          <a:xfrm>
            <a:off x="379412" y="4361688"/>
            <a:ext cx="11430000" cy="338554"/>
          </a:xfrm>
          <a:prstGeom prst="rect">
            <a:avLst/>
          </a:prstGeom>
          <a:noFill/>
        </p:spPr>
        <p:txBody>
          <a:bodyPr wrap="square">
            <a:spAutoFit/>
          </a:bodyPr>
          <a:lstStyle/>
          <a:p>
            <a:pPr algn="ctr"/>
            <a:r>
              <a:rPr lang="de-CH" sz="1600" b="0" dirty="0">
                <a:solidFill>
                  <a:srgbClr val="E0E0E0"/>
                </a:solidFill>
              </a:rPr>
              <a:t>Q&amp;A</a:t>
            </a:r>
            <a:endParaRPr sz="1600" b="0" dirty="0">
              <a:solidFill>
                <a:srgbClr val="E0E0E0"/>
              </a:solidFill>
            </a:endParaRPr>
          </a:p>
        </p:txBody>
      </p:sp>
    </p:spTree>
    <p:extLst>
      <p:ext uri="{BB962C8B-B14F-4D97-AF65-F5344CB8AC3E}">
        <p14:creationId xmlns:p14="http://schemas.microsoft.com/office/powerpoint/2010/main" val="15631325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441</Words>
  <Application>Microsoft Office PowerPoint</Application>
  <PresentationFormat>Benutzerdefiniert</PresentationFormat>
  <Paragraphs>94</Paragraphs>
  <Slides>9</Slides>
  <Notes>0</Notes>
  <HiddenSlides>0</HiddenSlides>
  <MMClips>0</MMClips>
  <ScaleCrop>false</ScaleCrop>
  <HeadingPairs>
    <vt:vector size="6" baseType="variant">
      <vt:variant>
        <vt:lpstr>Verwendete Schriftarten</vt:lpstr>
      </vt:variant>
      <vt:variant>
        <vt:i4>3</vt:i4>
      </vt:variant>
      <vt:variant>
        <vt:lpstr>Design</vt:lpstr>
      </vt:variant>
      <vt:variant>
        <vt:i4>1</vt:i4>
      </vt:variant>
      <vt:variant>
        <vt:lpstr>Folientitel</vt:lpstr>
      </vt:variant>
      <vt:variant>
        <vt:i4>9</vt:i4>
      </vt:variant>
    </vt:vector>
  </HeadingPairs>
  <TitlesOfParts>
    <vt:vector size="13" baseType="lpstr">
      <vt:lpstr>-apple-system</vt:lpstr>
      <vt:lpstr>Arial</vt:lpstr>
      <vt:lpstr>Calibri</vt:lpstr>
      <vt:lpstr>Office Theme</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lpstr>PowerPoint-Präsentation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subject/>
  <dc:creator/>
  <cp:keywords/>
  <dc:description>generated using python-pptx</dc:description>
  <cp:lastModifiedBy>Human Amdjadi</cp:lastModifiedBy>
  <cp:revision>41</cp:revision>
  <dcterms:created xsi:type="dcterms:W3CDTF">2013-01-27T09:14:16Z</dcterms:created>
  <dcterms:modified xsi:type="dcterms:W3CDTF">2026-05-21T14:34:05Z</dcterms:modified>
  <cp:category/>
</cp:coreProperties>
</file>